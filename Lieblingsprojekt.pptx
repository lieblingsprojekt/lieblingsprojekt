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64" r:id="rId4"/>
    <p:sldId id="258" r:id="rId5"/>
    <p:sldId id="257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59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FA77C0-CD59-4415-8DA0-423D3EDC04E8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682316A-28D9-407B-9EA6-62E2C9AA2548}">
      <dgm:prSet phldrT="[Text]" phldr="0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dirty="0"/>
            <a:t>Inputs</a:t>
          </a:r>
        </a:p>
      </dgm:t>
    </dgm:pt>
    <dgm:pt modelId="{C1E70166-ECA9-468A-91D2-97DF04AF2344}" type="parTrans" cxnId="{EACF6B1F-DA0E-4536-9EC6-292E5D23C685}">
      <dgm:prSet/>
      <dgm:spPr/>
      <dgm:t>
        <a:bodyPr/>
        <a:lstStyle/>
        <a:p>
          <a:endParaRPr lang="de-DE"/>
        </a:p>
      </dgm:t>
    </dgm:pt>
    <dgm:pt modelId="{B7B2D70F-9DCD-44F9-BF54-2B09CE583A4F}" type="sibTrans" cxnId="{EACF6B1F-DA0E-4536-9EC6-292E5D23C685}">
      <dgm:prSet/>
      <dgm:spPr/>
      <dgm:t>
        <a:bodyPr/>
        <a:lstStyle/>
        <a:p>
          <a:endParaRPr lang="de-DE"/>
        </a:p>
      </dgm:t>
    </dgm:pt>
    <dgm:pt modelId="{E7CCB1DA-B281-4DAE-B0B9-58A11CB62410}">
      <dgm:prSet phldrT="[Text]"/>
      <dgm:spPr>
        <a:solidFill>
          <a:schemeClr val="bg1"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DE" dirty="0"/>
            <a:t>Politische Entscheidung zur Verkehrslenkung</a:t>
          </a:r>
        </a:p>
        <a:p>
          <a:pPr>
            <a:buFont typeface="Arial" panose="020B0604020202020204" pitchFamily="34" charset="0"/>
            <a:buChar char="•"/>
          </a:pPr>
          <a:r>
            <a:rPr lang="de-DE" dirty="0"/>
            <a:t>Finanzielle Mittel</a:t>
          </a:r>
        </a:p>
        <a:p>
          <a:pPr>
            <a:buFont typeface="Arial" panose="020B0604020202020204" pitchFamily="34" charset="0"/>
            <a:buChar char="•"/>
          </a:pPr>
          <a:r>
            <a:rPr lang="de-DE" dirty="0"/>
            <a:t>Personal für Kontrolle und Management</a:t>
          </a:r>
        </a:p>
        <a:p>
          <a:pPr>
            <a:buFont typeface="Arial" panose="020B0604020202020204" pitchFamily="34" charset="0"/>
            <a:buChar char="•"/>
          </a:pPr>
          <a:r>
            <a:rPr lang="de-DE" dirty="0"/>
            <a:t>Digitale Reservierungssysteme</a:t>
          </a:r>
        </a:p>
        <a:p>
          <a:pPr>
            <a:buFont typeface="Arial" panose="020B0604020202020204" pitchFamily="34" charset="0"/>
            <a:buChar char="•"/>
          </a:pPr>
          <a:r>
            <a:rPr lang="de-DE" dirty="0"/>
            <a:t>Infrastruktur (Schranken, Parkplätze, Shuttlebusse)</a:t>
          </a:r>
        </a:p>
        <a:p>
          <a:pPr>
            <a:buFont typeface="Arial" panose="020B0604020202020204" pitchFamily="34" charset="0"/>
            <a:buChar char="•"/>
          </a:pPr>
          <a:r>
            <a:rPr lang="de-DE" dirty="0"/>
            <a:t>Öffentlicher Verkehr</a:t>
          </a:r>
        </a:p>
      </dgm:t>
    </dgm:pt>
    <dgm:pt modelId="{D8622082-BE38-48C6-8A90-799FC2719831}" type="parTrans" cxnId="{6412A91B-46D9-456F-B45F-21B789A0A44D}">
      <dgm:prSet/>
      <dgm:spPr/>
      <dgm:t>
        <a:bodyPr/>
        <a:lstStyle/>
        <a:p>
          <a:endParaRPr lang="de-DE"/>
        </a:p>
      </dgm:t>
    </dgm:pt>
    <dgm:pt modelId="{20B75E77-8291-4293-8005-4FF4CF8B6901}" type="sibTrans" cxnId="{6412A91B-46D9-456F-B45F-21B789A0A44D}">
      <dgm:prSet/>
      <dgm:spPr/>
      <dgm:t>
        <a:bodyPr/>
        <a:lstStyle/>
        <a:p>
          <a:endParaRPr lang="de-DE"/>
        </a:p>
      </dgm:t>
    </dgm:pt>
    <dgm:pt modelId="{E1E3BBD3-3172-4551-BB12-A1533FA49A70}">
      <dgm:prSet phldrT="[Text]" phldr="0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dirty="0" err="1"/>
            <a:t>Activities</a:t>
          </a:r>
          <a:endParaRPr lang="de-DE" dirty="0"/>
        </a:p>
      </dgm:t>
    </dgm:pt>
    <dgm:pt modelId="{34E5B641-9AB7-449B-8939-BE3FAAC0184B}" type="parTrans" cxnId="{12CCF86F-CE36-479F-9744-CF45E29E733A}">
      <dgm:prSet/>
      <dgm:spPr/>
      <dgm:t>
        <a:bodyPr/>
        <a:lstStyle/>
        <a:p>
          <a:endParaRPr lang="de-DE"/>
        </a:p>
      </dgm:t>
    </dgm:pt>
    <dgm:pt modelId="{64E27C7D-50F4-45C9-88FA-D9353CA05F01}" type="sibTrans" cxnId="{12CCF86F-CE36-479F-9744-CF45E29E733A}">
      <dgm:prSet/>
      <dgm:spPr/>
      <dgm:t>
        <a:bodyPr/>
        <a:lstStyle/>
        <a:p>
          <a:endParaRPr lang="de-DE"/>
        </a:p>
      </dgm:t>
    </dgm:pt>
    <dgm:pt modelId="{2AFBCE6D-161B-4860-91E0-DE6261A70DAF}">
      <dgm:prSet phldrT="[Text]" phldr="0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dirty="0"/>
            <a:t>Outputs</a:t>
          </a:r>
        </a:p>
      </dgm:t>
    </dgm:pt>
    <dgm:pt modelId="{B4BD668B-CA5A-4258-92E1-D16E2D81EE48}" type="parTrans" cxnId="{D8790E94-7B62-4777-B547-F5B48F2A0C92}">
      <dgm:prSet/>
      <dgm:spPr/>
      <dgm:t>
        <a:bodyPr/>
        <a:lstStyle/>
        <a:p>
          <a:endParaRPr lang="de-DE"/>
        </a:p>
      </dgm:t>
    </dgm:pt>
    <dgm:pt modelId="{7E07E8CF-E55A-4DD7-9AAB-839781CBB8B0}" type="sibTrans" cxnId="{D8790E94-7B62-4777-B547-F5B48F2A0C92}">
      <dgm:prSet/>
      <dgm:spPr/>
      <dgm:t>
        <a:bodyPr/>
        <a:lstStyle/>
        <a:p>
          <a:endParaRPr lang="de-DE"/>
        </a:p>
      </dgm:t>
    </dgm:pt>
    <dgm:pt modelId="{10D855F7-ED7B-4B85-BD63-5144BB210546}">
      <dgm:prSet phldrT="[Text]" phldr="0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dirty="0"/>
            <a:t>Outcomes</a:t>
          </a:r>
        </a:p>
      </dgm:t>
    </dgm:pt>
    <dgm:pt modelId="{9B8B4553-4E04-4153-91C4-C91BAE0939B3}" type="parTrans" cxnId="{D3D30FE4-3F50-48F5-884C-922BCCE704FB}">
      <dgm:prSet/>
      <dgm:spPr/>
      <dgm:t>
        <a:bodyPr/>
        <a:lstStyle/>
        <a:p>
          <a:endParaRPr lang="de-DE"/>
        </a:p>
      </dgm:t>
    </dgm:pt>
    <dgm:pt modelId="{B8986246-FC94-46D4-B318-18D94B498031}" type="sibTrans" cxnId="{D3D30FE4-3F50-48F5-884C-922BCCE704FB}">
      <dgm:prSet/>
      <dgm:spPr/>
      <dgm:t>
        <a:bodyPr/>
        <a:lstStyle/>
        <a:p>
          <a:endParaRPr lang="de-DE"/>
        </a:p>
      </dgm:t>
    </dgm:pt>
    <dgm:pt modelId="{CD625910-28D8-499D-A92F-C87D5B923932}">
      <dgm:prSet phldrT="[Text]" phldr="0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dirty="0"/>
            <a:t>Final Outcomes</a:t>
          </a:r>
        </a:p>
      </dgm:t>
    </dgm:pt>
    <dgm:pt modelId="{2978C0A8-1F83-48E3-934B-76F95E5F7C17}" type="parTrans" cxnId="{168F7EDE-E056-4EB7-A1CF-8B30B9604ACA}">
      <dgm:prSet/>
      <dgm:spPr/>
      <dgm:t>
        <a:bodyPr/>
        <a:lstStyle/>
        <a:p>
          <a:endParaRPr lang="de-DE"/>
        </a:p>
      </dgm:t>
    </dgm:pt>
    <dgm:pt modelId="{E4AF7301-650D-4595-AA4E-00E74D924E20}" type="sibTrans" cxnId="{168F7EDE-E056-4EB7-A1CF-8B30B9604ACA}">
      <dgm:prSet/>
      <dgm:spPr/>
      <dgm:t>
        <a:bodyPr/>
        <a:lstStyle/>
        <a:p>
          <a:endParaRPr lang="de-DE"/>
        </a:p>
      </dgm:t>
    </dgm:pt>
    <dgm:pt modelId="{F1F7B8A6-4099-49EB-BDB7-5EFCCEB67E12}">
      <dgm:prSet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de-DE" dirty="0"/>
            <a:t>Einführung der Zufahrtsbeschränkung</a:t>
          </a:r>
        </a:p>
        <a:p>
          <a:pPr>
            <a:buNone/>
          </a:pPr>
          <a:r>
            <a:rPr lang="de-DE" dirty="0"/>
            <a:t>Errichtung und Betrieb der Schranke</a:t>
          </a:r>
        </a:p>
        <a:p>
          <a:pPr>
            <a:buNone/>
          </a:pPr>
          <a:r>
            <a:rPr lang="de-DE" dirty="0"/>
            <a:t>Reservierungspflicht für Parkplätze</a:t>
          </a:r>
        </a:p>
        <a:p>
          <a:pPr>
            <a:buNone/>
          </a:pPr>
          <a:r>
            <a:rPr lang="de-DE" dirty="0"/>
            <a:t>Förderung von Shuttlebus und ÖPNV</a:t>
          </a:r>
        </a:p>
        <a:p>
          <a:pPr>
            <a:buNone/>
          </a:pPr>
          <a:r>
            <a:rPr lang="de-DE" dirty="0"/>
            <a:t>Information der Besucher über neue Zugangsregeln</a:t>
          </a:r>
        </a:p>
      </dgm:t>
    </dgm:pt>
    <dgm:pt modelId="{8E7A74E8-CFAF-4FCE-BD46-63EC01756769}" type="parTrans" cxnId="{AAA43E9D-8D5C-4698-AA32-0A868D365900}">
      <dgm:prSet/>
      <dgm:spPr/>
      <dgm:t>
        <a:bodyPr/>
        <a:lstStyle/>
        <a:p>
          <a:endParaRPr lang="de-DE"/>
        </a:p>
      </dgm:t>
    </dgm:pt>
    <dgm:pt modelId="{63F0F3DD-1EEE-4351-92A8-A86237D12A2C}" type="sibTrans" cxnId="{AAA43E9D-8D5C-4698-AA32-0A868D365900}">
      <dgm:prSet/>
      <dgm:spPr/>
      <dgm:t>
        <a:bodyPr/>
        <a:lstStyle/>
        <a:p>
          <a:endParaRPr lang="de-DE"/>
        </a:p>
      </dgm:t>
    </dgm:pt>
    <dgm:pt modelId="{C6F7A920-0D28-4C12-961C-485C4171EB2A}">
      <dgm:prSet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de-DE" dirty="0"/>
            <a:t>Weniger Fahrzeuge können unkontrolliert ins </a:t>
          </a:r>
          <a:r>
            <a:rPr lang="de-DE" dirty="0" err="1"/>
            <a:t>Pragser</a:t>
          </a:r>
          <a:r>
            <a:rPr lang="de-DE" dirty="0"/>
            <a:t> Tal einfahren</a:t>
          </a:r>
        </a:p>
        <a:p>
          <a:pPr>
            <a:buNone/>
          </a:pPr>
          <a:r>
            <a:rPr lang="de-DE" dirty="0"/>
            <a:t>Höhere Nutzung von Shuttle- und Busangeboten</a:t>
          </a:r>
        </a:p>
        <a:p>
          <a:pPr>
            <a:buNone/>
          </a:pPr>
          <a:r>
            <a:rPr lang="de-DE" dirty="0"/>
            <a:t>Gesteuerter Zugang zum </a:t>
          </a:r>
          <a:r>
            <a:rPr lang="de-DE" dirty="0" err="1"/>
            <a:t>Pragser</a:t>
          </a:r>
          <a:r>
            <a:rPr lang="de-DE" dirty="0"/>
            <a:t> </a:t>
          </a:r>
          <a:r>
            <a:rPr lang="de-DE" dirty="0" err="1"/>
            <a:t>Wildsee</a:t>
          </a:r>
          <a:endParaRPr lang="de-DE" dirty="0"/>
        </a:p>
        <a:p>
          <a:pPr>
            <a:buNone/>
          </a:pPr>
          <a:r>
            <a:rPr lang="de-DE" dirty="0"/>
            <a:t>Reduzierung von Spitzenbelastungen während der Hauptsaison</a:t>
          </a:r>
        </a:p>
      </dgm:t>
    </dgm:pt>
    <dgm:pt modelId="{C7836D32-A468-4F89-823B-B73C3D5BA2C9}" type="parTrans" cxnId="{401C59A8-6684-48CD-BE24-7A980046F0E2}">
      <dgm:prSet/>
      <dgm:spPr/>
      <dgm:t>
        <a:bodyPr/>
        <a:lstStyle/>
        <a:p>
          <a:endParaRPr lang="de-DE"/>
        </a:p>
      </dgm:t>
    </dgm:pt>
    <dgm:pt modelId="{E72F1F5F-BF72-44CA-AFB5-5A3E33126F10}" type="sibTrans" cxnId="{401C59A8-6684-48CD-BE24-7A980046F0E2}">
      <dgm:prSet/>
      <dgm:spPr/>
      <dgm:t>
        <a:bodyPr/>
        <a:lstStyle/>
        <a:p>
          <a:endParaRPr lang="de-DE"/>
        </a:p>
      </dgm:t>
    </dgm:pt>
    <dgm:pt modelId="{C35B7730-B940-43DE-945E-CF24A24A6AD1}">
      <dgm:prSet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de-DE" dirty="0"/>
            <a:t>Rückgang des Verkehrsaufkommens im </a:t>
          </a:r>
          <a:r>
            <a:rPr lang="de-DE" dirty="0" err="1"/>
            <a:t>Pragser</a:t>
          </a:r>
          <a:r>
            <a:rPr lang="de-DE" dirty="0"/>
            <a:t> Tal</a:t>
          </a:r>
        </a:p>
        <a:p>
          <a:pPr>
            <a:buNone/>
          </a:pPr>
          <a:r>
            <a:rPr lang="de-DE" dirty="0"/>
            <a:t>Weniger Staus und Parkplatzprobleme</a:t>
          </a:r>
        </a:p>
        <a:p>
          <a:pPr>
            <a:buNone/>
          </a:pPr>
          <a:r>
            <a:rPr lang="de-DE" dirty="0"/>
            <a:t>Veränderte zeitliche Verteilung der Anreisen</a:t>
          </a:r>
        </a:p>
        <a:p>
          <a:pPr>
            <a:buNone/>
          </a:pPr>
          <a:r>
            <a:rPr lang="de-DE" dirty="0"/>
            <a:t>Mögliche Verlagerung von Fahrten auf Randzeiten oder andere Ziele</a:t>
          </a:r>
        </a:p>
        <a:p>
          <a:pPr>
            <a:buNone/>
          </a:pPr>
          <a:r>
            <a:rPr lang="de-DE" dirty="0"/>
            <a:t>Verbesserte Besuchererfahrung</a:t>
          </a:r>
        </a:p>
      </dgm:t>
    </dgm:pt>
    <dgm:pt modelId="{A408A914-4A62-4C2C-9B8D-541EE60FC07B}" type="parTrans" cxnId="{6294C6EF-8B65-4726-A811-0841C6048488}">
      <dgm:prSet/>
      <dgm:spPr/>
      <dgm:t>
        <a:bodyPr/>
        <a:lstStyle/>
        <a:p>
          <a:endParaRPr lang="de-DE"/>
        </a:p>
      </dgm:t>
    </dgm:pt>
    <dgm:pt modelId="{86763210-5BE6-47EC-9D7D-1DD178DCCEDA}" type="sibTrans" cxnId="{6294C6EF-8B65-4726-A811-0841C6048488}">
      <dgm:prSet/>
      <dgm:spPr/>
      <dgm:t>
        <a:bodyPr/>
        <a:lstStyle/>
        <a:p>
          <a:endParaRPr lang="de-DE"/>
        </a:p>
      </dgm:t>
    </dgm:pt>
    <dgm:pt modelId="{F4F30310-535A-4FA1-A7E8-1367D69D759D}">
      <dgm:prSet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de-DE" dirty="0"/>
            <a:t>Verringerung der negativen Folgen von Overtourism</a:t>
          </a:r>
        </a:p>
        <a:p>
          <a:pPr>
            <a:buNone/>
          </a:pPr>
          <a:r>
            <a:rPr lang="de-DE" dirty="0"/>
            <a:t>Schutz von Natur und Landschaft</a:t>
          </a:r>
        </a:p>
        <a:p>
          <a:pPr>
            <a:buNone/>
          </a:pPr>
          <a:r>
            <a:rPr lang="de-DE" dirty="0"/>
            <a:t>Nachhaltigere touristische Entwicklung</a:t>
          </a:r>
        </a:p>
        <a:p>
          <a:pPr>
            <a:buNone/>
          </a:pPr>
          <a:r>
            <a:rPr lang="de-DE" dirty="0"/>
            <a:t>Höhere Lebensqualität für Einheimische</a:t>
          </a:r>
        </a:p>
        <a:p>
          <a:pPr>
            <a:buNone/>
          </a:pPr>
          <a:r>
            <a:rPr lang="de-DE" dirty="0"/>
            <a:t>Langfristige Sicherung der Attraktivität des </a:t>
          </a:r>
          <a:r>
            <a:rPr lang="de-DE" dirty="0" err="1"/>
            <a:t>Pragser</a:t>
          </a:r>
          <a:r>
            <a:rPr lang="de-DE" dirty="0"/>
            <a:t> </a:t>
          </a:r>
          <a:r>
            <a:rPr lang="de-DE" dirty="0" err="1"/>
            <a:t>Wildsees</a:t>
          </a:r>
          <a:endParaRPr lang="de-DE" dirty="0"/>
        </a:p>
      </dgm:t>
    </dgm:pt>
    <dgm:pt modelId="{28CCD7DB-D0D8-4EBA-8A28-8ED92A0C317E}" type="parTrans" cxnId="{369719CA-9DAB-46E2-88AF-2EA051E23821}">
      <dgm:prSet/>
      <dgm:spPr/>
      <dgm:t>
        <a:bodyPr/>
        <a:lstStyle/>
        <a:p>
          <a:endParaRPr lang="de-DE"/>
        </a:p>
      </dgm:t>
    </dgm:pt>
    <dgm:pt modelId="{F480BDD7-85FC-42AB-BE1B-D495BD36CF75}" type="sibTrans" cxnId="{369719CA-9DAB-46E2-88AF-2EA051E23821}">
      <dgm:prSet/>
      <dgm:spPr/>
      <dgm:t>
        <a:bodyPr/>
        <a:lstStyle/>
        <a:p>
          <a:endParaRPr lang="de-DE"/>
        </a:p>
      </dgm:t>
    </dgm:pt>
    <dgm:pt modelId="{001E62A9-199F-451B-AA7B-4FB50F81B0CB}" type="pres">
      <dgm:prSet presAssocID="{A2FA77C0-CD59-4415-8DA0-423D3EDC04E8}" presName="Name0" presStyleCnt="0">
        <dgm:presLayoutVars>
          <dgm:dir/>
          <dgm:animLvl val="lvl"/>
          <dgm:resizeHandles val="exact"/>
        </dgm:presLayoutVars>
      </dgm:prSet>
      <dgm:spPr/>
    </dgm:pt>
    <dgm:pt modelId="{6B762099-111C-444D-9236-1B1927605FC4}" type="pres">
      <dgm:prSet presAssocID="{4682316A-28D9-407B-9EA6-62E2C9AA2548}" presName="composite" presStyleCnt="0"/>
      <dgm:spPr/>
    </dgm:pt>
    <dgm:pt modelId="{F374EDC9-B50C-4198-8F2B-6C428294AAB8}" type="pres">
      <dgm:prSet presAssocID="{4682316A-28D9-407B-9EA6-62E2C9AA2548}" presName="parTx" presStyleLbl="alignNode1" presStyleIdx="0" presStyleCnt="5">
        <dgm:presLayoutVars>
          <dgm:chMax val="0"/>
          <dgm:chPref val="0"/>
        </dgm:presLayoutVars>
      </dgm:prSet>
      <dgm:spPr/>
    </dgm:pt>
    <dgm:pt modelId="{2D6FA998-9B19-4603-BF47-A173891B446F}" type="pres">
      <dgm:prSet presAssocID="{4682316A-28D9-407B-9EA6-62E2C9AA2548}" presName="bgOutline" presStyleLbl="fgAcc1" presStyleIdx="0" presStyleCnt="5">
        <dgm:presLayoutVars>
          <dgm:bulletEnabled/>
        </dgm:presLayoutVars>
      </dgm:prSet>
      <dgm:spPr/>
    </dgm:pt>
    <dgm:pt modelId="{0CD2C6B0-4182-45CC-95C3-D5C0A344FE90}" type="pres">
      <dgm:prSet presAssocID="{B7B2D70F-9DCD-44F9-BF54-2B09CE583A4F}" presName="space" presStyleCnt="0"/>
      <dgm:spPr/>
    </dgm:pt>
    <dgm:pt modelId="{70CBD3C7-7BD4-410B-8DAD-8E6E9E5906D7}" type="pres">
      <dgm:prSet presAssocID="{E1E3BBD3-3172-4551-BB12-A1533FA49A70}" presName="composite" presStyleCnt="0"/>
      <dgm:spPr/>
    </dgm:pt>
    <dgm:pt modelId="{6E1C6636-A6B2-48DE-AC8C-3A6634C5213C}" type="pres">
      <dgm:prSet presAssocID="{E1E3BBD3-3172-4551-BB12-A1533FA49A70}" presName="parTx" presStyleLbl="alignNode1" presStyleIdx="1" presStyleCnt="5">
        <dgm:presLayoutVars>
          <dgm:chMax val="0"/>
          <dgm:chPref val="0"/>
        </dgm:presLayoutVars>
      </dgm:prSet>
      <dgm:spPr/>
    </dgm:pt>
    <dgm:pt modelId="{578A7275-5322-45C6-A298-D2C7557544EA}" type="pres">
      <dgm:prSet presAssocID="{E1E3BBD3-3172-4551-BB12-A1533FA49A70}" presName="bgOutline" presStyleLbl="fgAcc1" presStyleIdx="1" presStyleCnt="5">
        <dgm:presLayoutVars>
          <dgm:bulletEnabled/>
        </dgm:presLayoutVars>
      </dgm:prSet>
      <dgm:spPr/>
    </dgm:pt>
    <dgm:pt modelId="{38E52E90-D747-49D7-8F81-CF4A7E843103}" type="pres">
      <dgm:prSet presAssocID="{64E27C7D-50F4-45C9-88FA-D9353CA05F01}" presName="space" presStyleCnt="0"/>
      <dgm:spPr/>
    </dgm:pt>
    <dgm:pt modelId="{FE6B8321-9899-4F14-80BF-E6A625680C1E}" type="pres">
      <dgm:prSet presAssocID="{2AFBCE6D-161B-4860-91E0-DE6261A70DAF}" presName="composite" presStyleCnt="0"/>
      <dgm:spPr/>
    </dgm:pt>
    <dgm:pt modelId="{4D7C5C5E-6BC9-46D8-8109-1FDDD8673398}" type="pres">
      <dgm:prSet presAssocID="{2AFBCE6D-161B-4860-91E0-DE6261A70DAF}" presName="parTx" presStyleLbl="alignNode1" presStyleIdx="2" presStyleCnt="5">
        <dgm:presLayoutVars>
          <dgm:chMax val="0"/>
          <dgm:chPref val="0"/>
        </dgm:presLayoutVars>
      </dgm:prSet>
      <dgm:spPr/>
    </dgm:pt>
    <dgm:pt modelId="{E1B60726-4201-41D0-AADD-85CF2D26FFDA}" type="pres">
      <dgm:prSet presAssocID="{2AFBCE6D-161B-4860-91E0-DE6261A70DAF}" presName="bgOutline" presStyleLbl="fgAcc1" presStyleIdx="2" presStyleCnt="5">
        <dgm:presLayoutVars>
          <dgm:bulletEnabled/>
        </dgm:presLayoutVars>
      </dgm:prSet>
      <dgm:spPr/>
    </dgm:pt>
    <dgm:pt modelId="{0BC7A6A6-B379-4F0F-A72E-15D3172BBD2A}" type="pres">
      <dgm:prSet presAssocID="{7E07E8CF-E55A-4DD7-9AAB-839781CBB8B0}" presName="space" presStyleCnt="0"/>
      <dgm:spPr/>
    </dgm:pt>
    <dgm:pt modelId="{40A9ED01-528B-40B2-BB78-2286F574F0A7}" type="pres">
      <dgm:prSet presAssocID="{10D855F7-ED7B-4B85-BD63-5144BB210546}" presName="composite" presStyleCnt="0"/>
      <dgm:spPr/>
    </dgm:pt>
    <dgm:pt modelId="{110FCB13-6C69-4D2D-B973-A8AC90708493}" type="pres">
      <dgm:prSet presAssocID="{10D855F7-ED7B-4B85-BD63-5144BB210546}" presName="parTx" presStyleLbl="alignNode1" presStyleIdx="3" presStyleCnt="5">
        <dgm:presLayoutVars>
          <dgm:chMax val="0"/>
          <dgm:chPref val="0"/>
        </dgm:presLayoutVars>
      </dgm:prSet>
      <dgm:spPr/>
    </dgm:pt>
    <dgm:pt modelId="{FCB55FBC-22FB-4C50-A6C7-1A78295FF626}" type="pres">
      <dgm:prSet presAssocID="{10D855F7-ED7B-4B85-BD63-5144BB210546}" presName="bgOutline" presStyleLbl="fgAcc1" presStyleIdx="3" presStyleCnt="5">
        <dgm:presLayoutVars>
          <dgm:bulletEnabled/>
        </dgm:presLayoutVars>
      </dgm:prSet>
      <dgm:spPr/>
    </dgm:pt>
    <dgm:pt modelId="{C4B64293-C3DA-4745-92CD-D31D7E0F73E1}" type="pres">
      <dgm:prSet presAssocID="{B8986246-FC94-46D4-B318-18D94B498031}" presName="space" presStyleCnt="0"/>
      <dgm:spPr/>
    </dgm:pt>
    <dgm:pt modelId="{B2C44B3D-ACA6-4EE1-AAC1-02EB6173AFF6}" type="pres">
      <dgm:prSet presAssocID="{CD625910-28D8-499D-A92F-C87D5B923932}" presName="composite" presStyleCnt="0"/>
      <dgm:spPr/>
    </dgm:pt>
    <dgm:pt modelId="{D1E3E5F0-B5F7-4E5E-8337-9A3FF0B31C21}" type="pres">
      <dgm:prSet presAssocID="{CD625910-28D8-499D-A92F-C87D5B923932}" presName="parTx" presStyleLbl="alignNode1" presStyleIdx="4" presStyleCnt="5">
        <dgm:presLayoutVars>
          <dgm:chMax val="0"/>
          <dgm:chPref val="0"/>
        </dgm:presLayoutVars>
      </dgm:prSet>
      <dgm:spPr/>
    </dgm:pt>
    <dgm:pt modelId="{0D83026C-CD43-45A0-88C6-C3AE51E5EB2C}" type="pres">
      <dgm:prSet presAssocID="{CD625910-28D8-499D-A92F-C87D5B923932}" presName="bgOutline" presStyleLbl="fgAcc1" presStyleIdx="4" presStyleCnt="5">
        <dgm:presLayoutVars>
          <dgm:bulletEnabled/>
        </dgm:presLayoutVars>
      </dgm:prSet>
      <dgm:spPr/>
    </dgm:pt>
  </dgm:ptLst>
  <dgm:cxnLst>
    <dgm:cxn modelId="{3181670D-E9D5-459F-8504-B1FA04B9D6F0}" type="presOf" srcId="{10D855F7-ED7B-4B85-BD63-5144BB210546}" destId="{110FCB13-6C69-4D2D-B973-A8AC90708493}" srcOrd="0" destOrd="0" presId="urn:microsoft.com/office/officeart/2024/layout/HorizontalActionList"/>
    <dgm:cxn modelId="{DC4F501B-30B5-4702-A5E1-BDF90D60362D}" type="presOf" srcId="{CD625910-28D8-499D-A92F-C87D5B923932}" destId="{D1E3E5F0-B5F7-4E5E-8337-9A3FF0B31C21}" srcOrd="0" destOrd="0" presId="urn:microsoft.com/office/officeart/2024/layout/HorizontalActionList"/>
    <dgm:cxn modelId="{6412A91B-46D9-456F-B45F-21B789A0A44D}" srcId="{4682316A-28D9-407B-9EA6-62E2C9AA2548}" destId="{E7CCB1DA-B281-4DAE-B0B9-58A11CB62410}" srcOrd="0" destOrd="0" parTransId="{D8622082-BE38-48C6-8A90-799FC2719831}" sibTransId="{20B75E77-8291-4293-8005-4FF4CF8B6901}"/>
    <dgm:cxn modelId="{EACF6B1F-DA0E-4536-9EC6-292E5D23C685}" srcId="{A2FA77C0-CD59-4415-8DA0-423D3EDC04E8}" destId="{4682316A-28D9-407B-9EA6-62E2C9AA2548}" srcOrd="0" destOrd="0" parTransId="{C1E70166-ECA9-468A-91D2-97DF04AF2344}" sibTransId="{B7B2D70F-9DCD-44F9-BF54-2B09CE583A4F}"/>
    <dgm:cxn modelId="{506DDD2B-3F59-41EB-88EB-23AAB0803F64}" type="presOf" srcId="{F1F7B8A6-4099-49EB-BDB7-5EFCCEB67E12}" destId="{578A7275-5322-45C6-A298-D2C7557544EA}" srcOrd="0" destOrd="0" presId="urn:microsoft.com/office/officeart/2024/layout/HorizontalActionList"/>
    <dgm:cxn modelId="{0A2FC141-5406-4407-B784-08BE0D37228B}" type="presOf" srcId="{2AFBCE6D-161B-4860-91E0-DE6261A70DAF}" destId="{4D7C5C5E-6BC9-46D8-8109-1FDDD8673398}" srcOrd="0" destOrd="0" presId="urn:microsoft.com/office/officeart/2024/layout/HorizontalActionList"/>
    <dgm:cxn modelId="{5ADA7A43-A77F-4969-8F94-3DBCE5543494}" type="presOf" srcId="{E1E3BBD3-3172-4551-BB12-A1533FA49A70}" destId="{6E1C6636-A6B2-48DE-AC8C-3A6634C5213C}" srcOrd="0" destOrd="0" presId="urn:microsoft.com/office/officeart/2024/layout/HorizontalActionList"/>
    <dgm:cxn modelId="{6933644B-05F3-4B76-8080-CAEB368795C9}" type="presOf" srcId="{A2FA77C0-CD59-4415-8DA0-423D3EDC04E8}" destId="{001E62A9-199F-451B-AA7B-4FB50F81B0CB}" srcOrd="0" destOrd="0" presId="urn:microsoft.com/office/officeart/2024/layout/HorizontalActionList"/>
    <dgm:cxn modelId="{12CCF86F-CE36-479F-9744-CF45E29E733A}" srcId="{A2FA77C0-CD59-4415-8DA0-423D3EDC04E8}" destId="{E1E3BBD3-3172-4551-BB12-A1533FA49A70}" srcOrd="1" destOrd="0" parTransId="{34E5B641-9AB7-449B-8939-BE3FAAC0184B}" sibTransId="{64E27C7D-50F4-45C9-88FA-D9353CA05F01}"/>
    <dgm:cxn modelId="{B714D781-8FEE-4C5B-9EBA-5D889676AF20}" type="presOf" srcId="{C35B7730-B940-43DE-945E-CF24A24A6AD1}" destId="{FCB55FBC-22FB-4C50-A6C7-1A78295FF626}" srcOrd="0" destOrd="0" presId="urn:microsoft.com/office/officeart/2024/layout/HorizontalActionList"/>
    <dgm:cxn modelId="{E2860491-31BA-41BA-806E-7E8D15B02BC4}" type="presOf" srcId="{C6F7A920-0D28-4C12-961C-485C4171EB2A}" destId="{E1B60726-4201-41D0-AADD-85CF2D26FFDA}" srcOrd="0" destOrd="0" presId="urn:microsoft.com/office/officeart/2024/layout/HorizontalActionList"/>
    <dgm:cxn modelId="{D8790E94-7B62-4777-B547-F5B48F2A0C92}" srcId="{A2FA77C0-CD59-4415-8DA0-423D3EDC04E8}" destId="{2AFBCE6D-161B-4860-91E0-DE6261A70DAF}" srcOrd="2" destOrd="0" parTransId="{B4BD668B-CA5A-4258-92E1-D16E2D81EE48}" sibTransId="{7E07E8CF-E55A-4DD7-9AAB-839781CBB8B0}"/>
    <dgm:cxn modelId="{AAA43E9D-8D5C-4698-AA32-0A868D365900}" srcId="{E1E3BBD3-3172-4551-BB12-A1533FA49A70}" destId="{F1F7B8A6-4099-49EB-BDB7-5EFCCEB67E12}" srcOrd="0" destOrd="0" parTransId="{8E7A74E8-CFAF-4FCE-BD46-63EC01756769}" sibTransId="{63F0F3DD-1EEE-4351-92A8-A86237D12A2C}"/>
    <dgm:cxn modelId="{401C59A8-6684-48CD-BE24-7A980046F0E2}" srcId="{2AFBCE6D-161B-4860-91E0-DE6261A70DAF}" destId="{C6F7A920-0D28-4C12-961C-485C4171EB2A}" srcOrd="0" destOrd="0" parTransId="{C7836D32-A468-4F89-823B-B73C3D5BA2C9}" sibTransId="{E72F1F5F-BF72-44CA-AFB5-5A3E33126F10}"/>
    <dgm:cxn modelId="{7EFDE3BA-FDB4-48D2-A2AB-DA1916945CC1}" type="presOf" srcId="{4682316A-28D9-407B-9EA6-62E2C9AA2548}" destId="{F374EDC9-B50C-4198-8F2B-6C428294AAB8}" srcOrd="0" destOrd="0" presId="urn:microsoft.com/office/officeart/2024/layout/HorizontalActionList"/>
    <dgm:cxn modelId="{369719CA-9DAB-46E2-88AF-2EA051E23821}" srcId="{CD625910-28D8-499D-A92F-C87D5B923932}" destId="{F4F30310-535A-4FA1-A7E8-1367D69D759D}" srcOrd="0" destOrd="0" parTransId="{28CCD7DB-D0D8-4EBA-8A28-8ED92A0C317E}" sibTransId="{F480BDD7-85FC-42AB-BE1B-D495BD36CF75}"/>
    <dgm:cxn modelId="{D0B8B7DC-8FEE-488A-814F-64FC0C23AD0C}" type="presOf" srcId="{E7CCB1DA-B281-4DAE-B0B9-58A11CB62410}" destId="{2D6FA998-9B19-4603-BF47-A173891B446F}" srcOrd="0" destOrd="0" presId="urn:microsoft.com/office/officeart/2024/layout/HorizontalActionList"/>
    <dgm:cxn modelId="{168F7EDE-E056-4EB7-A1CF-8B30B9604ACA}" srcId="{A2FA77C0-CD59-4415-8DA0-423D3EDC04E8}" destId="{CD625910-28D8-499D-A92F-C87D5B923932}" srcOrd="4" destOrd="0" parTransId="{2978C0A8-1F83-48E3-934B-76F95E5F7C17}" sibTransId="{E4AF7301-650D-4595-AA4E-00E74D924E20}"/>
    <dgm:cxn modelId="{D3D30FE4-3F50-48F5-884C-922BCCE704FB}" srcId="{A2FA77C0-CD59-4415-8DA0-423D3EDC04E8}" destId="{10D855F7-ED7B-4B85-BD63-5144BB210546}" srcOrd="3" destOrd="0" parTransId="{9B8B4553-4E04-4153-91C4-C91BAE0939B3}" sibTransId="{B8986246-FC94-46D4-B318-18D94B498031}"/>
    <dgm:cxn modelId="{6294C6EF-8B65-4726-A811-0841C6048488}" srcId="{10D855F7-ED7B-4B85-BD63-5144BB210546}" destId="{C35B7730-B940-43DE-945E-CF24A24A6AD1}" srcOrd="0" destOrd="0" parTransId="{A408A914-4A62-4C2C-9B8D-541EE60FC07B}" sibTransId="{86763210-5BE6-47EC-9D7D-1DD178DCCEDA}"/>
    <dgm:cxn modelId="{7115CAF5-825E-4FB4-A24B-BE823A15519B}" type="presOf" srcId="{F4F30310-535A-4FA1-A7E8-1367D69D759D}" destId="{0D83026C-CD43-45A0-88C6-C3AE51E5EB2C}" srcOrd="0" destOrd="0" presId="urn:microsoft.com/office/officeart/2024/layout/HorizontalActionList"/>
    <dgm:cxn modelId="{1F7E3E9C-BF5D-4AAC-B557-37D43DD1D2AD}" type="presParOf" srcId="{001E62A9-199F-451B-AA7B-4FB50F81B0CB}" destId="{6B762099-111C-444D-9236-1B1927605FC4}" srcOrd="0" destOrd="0" presId="urn:microsoft.com/office/officeart/2024/layout/HorizontalActionList"/>
    <dgm:cxn modelId="{3729725C-5CE9-41E3-A3E9-28C6AD5967AD}" type="presParOf" srcId="{6B762099-111C-444D-9236-1B1927605FC4}" destId="{F374EDC9-B50C-4198-8F2B-6C428294AAB8}" srcOrd="0" destOrd="0" presId="urn:microsoft.com/office/officeart/2024/layout/HorizontalActionList"/>
    <dgm:cxn modelId="{8F82CC48-2EC4-4A74-B805-0337D447B8EA}" type="presParOf" srcId="{6B762099-111C-444D-9236-1B1927605FC4}" destId="{2D6FA998-9B19-4603-BF47-A173891B446F}" srcOrd="1" destOrd="0" presId="urn:microsoft.com/office/officeart/2024/layout/HorizontalActionList"/>
    <dgm:cxn modelId="{4AB7FD92-002E-4394-8D10-B4C5E91D2802}" type="presParOf" srcId="{001E62A9-199F-451B-AA7B-4FB50F81B0CB}" destId="{0CD2C6B0-4182-45CC-95C3-D5C0A344FE90}" srcOrd="1" destOrd="0" presId="urn:microsoft.com/office/officeart/2024/layout/HorizontalActionList"/>
    <dgm:cxn modelId="{AAFD38B5-EBE2-421A-B9BC-D8552EC4E652}" type="presParOf" srcId="{001E62A9-199F-451B-AA7B-4FB50F81B0CB}" destId="{70CBD3C7-7BD4-410B-8DAD-8E6E9E5906D7}" srcOrd="2" destOrd="0" presId="urn:microsoft.com/office/officeart/2024/layout/HorizontalActionList"/>
    <dgm:cxn modelId="{0DC523C9-87F9-45B3-9325-2803C621C9E3}" type="presParOf" srcId="{70CBD3C7-7BD4-410B-8DAD-8E6E9E5906D7}" destId="{6E1C6636-A6B2-48DE-AC8C-3A6634C5213C}" srcOrd="0" destOrd="0" presId="urn:microsoft.com/office/officeart/2024/layout/HorizontalActionList"/>
    <dgm:cxn modelId="{C14480FB-38F0-40C1-937A-9BEBBD2AFEB9}" type="presParOf" srcId="{70CBD3C7-7BD4-410B-8DAD-8E6E9E5906D7}" destId="{578A7275-5322-45C6-A298-D2C7557544EA}" srcOrd="1" destOrd="0" presId="urn:microsoft.com/office/officeart/2024/layout/HorizontalActionList"/>
    <dgm:cxn modelId="{D1B0ABFF-367D-4988-8F01-29046A5D38DB}" type="presParOf" srcId="{001E62A9-199F-451B-AA7B-4FB50F81B0CB}" destId="{38E52E90-D747-49D7-8F81-CF4A7E843103}" srcOrd="3" destOrd="0" presId="urn:microsoft.com/office/officeart/2024/layout/HorizontalActionList"/>
    <dgm:cxn modelId="{1E75A3D2-6683-4DC7-9066-A9166F156B0B}" type="presParOf" srcId="{001E62A9-199F-451B-AA7B-4FB50F81B0CB}" destId="{FE6B8321-9899-4F14-80BF-E6A625680C1E}" srcOrd="4" destOrd="0" presId="urn:microsoft.com/office/officeart/2024/layout/HorizontalActionList"/>
    <dgm:cxn modelId="{89CE1A41-FAEE-4D32-A760-1D4E3DBDFC8C}" type="presParOf" srcId="{FE6B8321-9899-4F14-80BF-E6A625680C1E}" destId="{4D7C5C5E-6BC9-46D8-8109-1FDDD8673398}" srcOrd="0" destOrd="0" presId="urn:microsoft.com/office/officeart/2024/layout/HorizontalActionList"/>
    <dgm:cxn modelId="{18590454-9D19-42A7-9F24-2435AE24A37D}" type="presParOf" srcId="{FE6B8321-9899-4F14-80BF-E6A625680C1E}" destId="{E1B60726-4201-41D0-AADD-85CF2D26FFDA}" srcOrd="1" destOrd="0" presId="urn:microsoft.com/office/officeart/2024/layout/HorizontalActionList"/>
    <dgm:cxn modelId="{8ACE702E-E273-4095-8FAC-7B9396C5D854}" type="presParOf" srcId="{001E62A9-199F-451B-AA7B-4FB50F81B0CB}" destId="{0BC7A6A6-B379-4F0F-A72E-15D3172BBD2A}" srcOrd="5" destOrd="0" presId="urn:microsoft.com/office/officeart/2024/layout/HorizontalActionList"/>
    <dgm:cxn modelId="{A3866DA4-5CFB-4243-B7D8-19FAA4E8EEFA}" type="presParOf" srcId="{001E62A9-199F-451B-AA7B-4FB50F81B0CB}" destId="{40A9ED01-528B-40B2-BB78-2286F574F0A7}" srcOrd="6" destOrd="0" presId="urn:microsoft.com/office/officeart/2024/layout/HorizontalActionList"/>
    <dgm:cxn modelId="{23EC9B9C-A16C-4211-BC9F-D62462550298}" type="presParOf" srcId="{40A9ED01-528B-40B2-BB78-2286F574F0A7}" destId="{110FCB13-6C69-4D2D-B973-A8AC90708493}" srcOrd="0" destOrd="0" presId="urn:microsoft.com/office/officeart/2024/layout/HorizontalActionList"/>
    <dgm:cxn modelId="{EBA16798-F5A4-44DD-B384-5D1C5C0B1F7D}" type="presParOf" srcId="{40A9ED01-528B-40B2-BB78-2286F574F0A7}" destId="{FCB55FBC-22FB-4C50-A6C7-1A78295FF626}" srcOrd="1" destOrd="0" presId="urn:microsoft.com/office/officeart/2024/layout/HorizontalActionList"/>
    <dgm:cxn modelId="{6E1D2DD6-D0DF-43ED-9A34-8434B2B8BDFD}" type="presParOf" srcId="{001E62A9-199F-451B-AA7B-4FB50F81B0CB}" destId="{C4B64293-C3DA-4745-92CD-D31D7E0F73E1}" srcOrd="7" destOrd="0" presId="urn:microsoft.com/office/officeart/2024/layout/HorizontalActionList"/>
    <dgm:cxn modelId="{72A7C689-F370-4FF6-B4DB-D557D8E5F320}" type="presParOf" srcId="{001E62A9-199F-451B-AA7B-4FB50F81B0CB}" destId="{B2C44B3D-ACA6-4EE1-AAC1-02EB6173AFF6}" srcOrd="8" destOrd="0" presId="urn:microsoft.com/office/officeart/2024/layout/HorizontalActionList"/>
    <dgm:cxn modelId="{A385B01C-32C5-4CA3-B717-0B825C7657F2}" type="presParOf" srcId="{B2C44B3D-ACA6-4EE1-AAC1-02EB6173AFF6}" destId="{D1E3E5F0-B5F7-4E5E-8337-9A3FF0B31C21}" srcOrd="0" destOrd="0" presId="urn:microsoft.com/office/officeart/2024/layout/HorizontalActionList"/>
    <dgm:cxn modelId="{BD1F7683-5045-439A-BBE6-B5A798C32B84}" type="presParOf" srcId="{B2C44B3D-ACA6-4EE1-AAC1-02EB6173AFF6}" destId="{0D83026C-CD43-45A0-88C6-C3AE51E5EB2C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FA998-9B19-4603-BF47-A173891B446F}">
      <dsp:nvSpPr>
        <dsp:cNvPr id="0" name=""/>
        <dsp:cNvSpPr/>
      </dsp:nvSpPr>
      <dsp:spPr>
        <a:xfrm rot="10800000">
          <a:off x="3502" y="1521048"/>
          <a:ext cx="2015318" cy="2587368"/>
        </a:xfrm>
        <a:prstGeom prst="round2SameRect">
          <a:avLst>
            <a:gd name="adj1" fmla="val 15000"/>
            <a:gd name="adj2" fmla="val 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15" tIns="85315" rIns="85315" bIns="8531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100" kern="1200" dirty="0"/>
            <a:t>Politische Entscheidung zur Verkehrslenkung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100" kern="1200" dirty="0"/>
            <a:t>Finanzielle Mittel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100" kern="1200" dirty="0"/>
            <a:t>Personal für Kontrolle und Management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100" kern="1200" dirty="0"/>
            <a:t>Digitale Reservierungssysteme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100" kern="1200" dirty="0"/>
            <a:t>Infrastruktur (Schranken, Parkplätze, Shuttlebusse)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e-DE" sz="1100" kern="1200" dirty="0"/>
            <a:t>Öffentlicher Verkehr</a:t>
          </a:r>
        </a:p>
      </dsp:txBody>
      <dsp:txXfrm rot="10800000">
        <a:off x="92042" y="1521048"/>
        <a:ext cx="1838238" cy="2498828"/>
      </dsp:txXfrm>
    </dsp:sp>
    <dsp:sp modelId="{F374EDC9-B50C-4198-8F2B-6C428294AAB8}">
      <dsp:nvSpPr>
        <dsp:cNvPr id="0" name=""/>
        <dsp:cNvSpPr/>
      </dsp:nvSpPr>
      <dsp:spPr>
        <a:xfrm>
          <a:off x="3502" y="934590"/>
          <a:ext cx="2015318" cy="604595"/>
        </a:xfrm>
        <a:prstGeom prst="round2SameRect">
          <a:avLst>
            <a:gd name="adj1" fmla="val 45000"/>
            <a:gd name="adj2" fmla="val 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59255" tIns="159255" rIns="159255" bIns="1592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Inputs</a:t>
          </a:r>
        </a:p>
      </dsp:txBody>
      <dsp:txXfrm>
        <a:off x="83188" y="1014276"/>
        <a:ext cx="1855946" cy="524909"/>
      </dsp:txXfrm>
    </dsp:sp>
    <dsp:sp modelId="{578A7275-5322-45C6-A298-D2C7557544EA}">
      <dsp:nvSpPr>
        <dsp:cNvPr id="0" name=""/>
        <dsp:cNvSpPr/>
      </dsp:nvSpPr>
      <dsp:spPr>
        <a:xfrm rot="10800000">
          <a:off x="2126821" y="1521048"/>
          <a:ext cx="2015318" cy="2587368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15" tIns="85315" rIns="85315" bIns="8531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Einführung der Zufahrtsbeschränkung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Errichtung und Betrieb der Schranke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Reservierungspflicht für Parkplätze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Förderung von Shuttlebus und ÖPNV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Information der Besucher über neue Zugangsregeln</a:t>
          </a:r>
        </a:p>
      </dsp:txBody>
      <dsp:txXfrm rot="10800000">
        <a:off x="2215361" y="1521048"/>
        <a:ext cx="1838238" cy="2498828"/>
      </dsp:txXfrm>
    </dsp:sp>
    <dsp:sp modelId="{6E1C6636-A6B2-48DE-AC8C-3A6634C5213C}">
      <dsp:nvSpPr>
        <dsp:cNvPr id="0" name=""/>
        <dsp:cNvSpPr/>
      </dsp:nvSpPr>
      <dsp:spPr>
        <a:xfrm>
          <a:off x="2126821" y="934590"/>
          <a:ext cx="2015318" cy="604595"/>
        </a:xfrm>
        <a:prstGeom prst="round2SameRect">
          <a:avLst>
            <a:gd name="adj1" fmla="val 45000"/>
            <a:gd name="adj2" fmla="val 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59255" tIns="159255" rIns="159255" bIns="1592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 err="1"/>
            <a:t>Activities</a:t>
          </a:r>
          <a:endParaRPr lang="de-DE" sz="1400" kern="1200" dirty="0"/>
        </a:p>
      </dsp:txBody>
      <dsp:txXfrm>
        <a:off x="2206507" y="1014276"/>
        <a:ext cx="1855946" cy="524909"/>
      </dsp:txXfrm>
    </dsp:sp>
    <dsp:sp modelId="{E1B60726-4201-41D0-AADD-85CF2D26FFDA}">
      <dsp:nvSpPr>
        <dsp:cNvPr id="0" name=""/>
        <dsp:cNvSpPr/>
      </dsp:nvSpPr>
      <dsp:spPr>
        <a:xfrm rot="10800000">
          <a:off x="4250140" y="1521048"/>
          <a:ext cx="2015318" cy="2587368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15" tIns="85315" rIns="85315" bIns="8531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Weniger Fahrzeuge können unkontrolliert ins </a:t>
          </a:r>
          <a:r>
            <a:rPr lang="de-DE" sz="1100" kern="1200" dirty="0" err="1"/>
            <a:t>Pragser</a:t>
          </a:r>
          <a:r>
            <a:rPr lang="de-DE" sz="1100" kern="1200" dirty="0"/>
            <a:t> Tal einfahren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Höhere Nutzung von Shuttle- und Busangeboten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Gesteuerter Zugang zum </a:t>
          </a:r>
          <a:r>
            <a:rPr lang="de-DE" sz="1100" kern="1200" dirty="0" err="1"/>
            <a:t>Pragser</a:t>
          </a:r>
          <a:r>
            <a:rPr lang="de-DE" sz="1100" kern="1200" dirty="0"/>
            <a:t> </a:t>
          </a:r>
          <a:r>
            <a:rPr lang="de-DE" sz="1100" kern="1200" dirty="0" err="1"/>
            <a:t>Wildsee</a:t>
          </a:r>
          <a:endParaRPr lang="de-DE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Reduzierung von Spitzenbelastungen während der Hauptsaison</a:t>
          </a:r>
        </a:p>
      </dsp:txBody>
      <dsp:txXfrm rot="10800000">
        <a:off x="4338680" y="1521048"/>
        <a:ext cx="1838238" cy="2498828"/>
      </dsp:txXfrm>
    </dsp:sp>
    <dsp:sp modelId="{4D7C5C5E-6BC9-46D8-8109-1FDDD8673398}">
      <dsp:nvSpPr>
        <dsp:cNvPr id="0" name=""/>
        <dsp:cNvSpPr/>
      </dsp:nvSpPr>
      <dsp:spPr>
        <a:xfrm>
          <a:off x="4250140" y="934590"/>
          <a:ext cx="2015318" cy="604595"/>
        </a:xfrm>
        <a:prstGeom prst="round2SameRect">
          <a:avLst>
            <a:gd name="adj1" fmla="val 45000"/>
            <a:gd name="adj2" fmla="val 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59255" tIns="159255" rIns="159255" bIns="1592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Outputs</a:t>
          </a:r>
        </a:p>
      </dsp:txBody>
      <dsp:txXfrm>
        <a:off x="4329826" y="1014276"/>
        <a:ext cx="1855946" cy="524909"/>
      </dsp:txXfrm>
    </dsp:sp>
    <dsp:sp modelId="{FCB55FBC-22FB-4C50-A6C7-1A78295FF626}">
      <dsp:nvSpPr>
        <dsp:cNvPr id="0" name=""/>
        <dsp:cNvSpPr/>
      </dsp:nvSpPr>
      <dsp:spPr>
        <a:xfrm rot="10800000">
          <a:off x="6373459" y="1521048"/>
          <a:ext cx="2015318" cy="2587368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15" tIns="85315" rIns="85315" bIns="8531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Rückgang des Verkehrsaufkommens im </a:t>
          </a:r>
          <a:r>
            <a:rPr lang="de-DE" sz="1100" kern="1200" dirty="0" err="1"/>
            <a:t>Pragser</a:t>
          </a:r>
          <a:r>
            <a:rPr lang="de-DE" sz="1100" kern="1200" dirty="0"/>
            <a:t> Tal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Weniger Staus und Parkplatzprobleme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Veränderte zeitliche Verteilung der Anreisen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Mögliche Verlagerung von Fahrten auf Randzeiten oder andere Ziele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Verbesserte Besuchererfahrung</a:t>
          </a:r>
        </a:p>
      </dsp:txBody>
      <dsp:txXfrm rot="10800000">
        <a:off x="6461999" y="1521048"/>
        <a:ext cx="1838238" cy="2498828"/>
      </dsp:txXfrm>
    </dsp:sp>
    <dsp:sp modelId="{110FCB13-6C69-4D2D-B973-A8AC90708493}">
      <dsp:nvSpPr>
        <dsp:cNvPr id="0" name=""/>
        <dsp:cNvSpPr/>
      </dsp:nvSpPr>
      <dsp:spPr>
        <a:xfrm>
          <a:off x="6373459" y="934590"/>
          <a:ext cx="2015318" cy="604595"/>
        </a:xfrm>
        <a:prstGeom prst="round2SameRect">
          <a:avLst>
            <a:gd name="adj1" fmla="val 45000"/>
            <a:gd name="adj2" fmla="val 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59255" tIns="159255" rIns="159255" bIns="1592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Outcomes</a:t>
          </a:r>
        </a:p>
      </dsp:txBody>
      <dsp:txXfrm>
        <a:off x="6453145" y="1014276"/>
        <a:ext cx="1855946" cy="524909"/>
      </dsp:txXfrm>
    </dsp:sp>
    <dsp:sp modelId="{0D83026C-CD43-45A0-88C6-C3AE51E5EB2C}">
      <dsp:nvSpPr>
        <dsp:cNvPr id="0" name=""/>
        <dsp:cNvSpPr/>
      </dsp:nvSpPr>
      <dsp:spPr>
        <a:xfrm rot="10800000">
          <a:off x="8496778" y="1521048"/>
          <a:ext cx="2015318" cy="2587368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15" tIns="85315" rIns="85315" bIns="8531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Verringerung der negativen Folgen von Overtourism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Schutz von Natur und Landschaft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Nachhaltigere touristische Entwicklung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Höhere Lebensqualität für Einheimische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Langfristige Sicherung der Attraktivität des </a:t>
          </a:r>
          <a:r>
            <a:rPr lang="de-DE" sz="1100" kern="1200" dirty="0" err="1"/>
            <a:t>Pragser</a:t>
          </a:r>
          <a:r>
            <a:rPr lang="de-DE" sz="1100" kern="1200" dirty="0"/>
            <a:t> </a:t>
          </a:r>
          <a:r>
            <a:rPr lang="de-DE" sz="1100" kern="1200" dirty="0" err="1"/>
            <a:t>Wildsees</a:t>
          </a:r>
          <a:endParaRPr lang="de-DE" sz="1100" kern="1200" dirty="0"/>
        </a:p>
      </dsp:txBody>
      <dsp:txXfrm rot="10800000">
        <a:off x="8585318" y="1521048"/>
        <a:ext cx="1838238" cy="2498828"/>
      </dsp:txXfrm>
    </dsp:sp>
    <dsp:sp modelId="{D1E3E5F0-B5F7-4E5E-8337-9A3FF0B31C21}">
      <dsp:nvSpPr>
        <dsp:cNvPr id="0" name=""/>
        <dsp:cNvSpPr/>
      </dsp:nvSpPr>
      <dsp:spPr>
        <a:xfrm>
          <a:off x="8496778" y="934590"/>
          <a:ext cx="2015318" cy="604595"/>
        </a:xfrm>
        <a:prstGeom prst="round2SameRect">
          <a:avLst>
            <a:gd name="adj1" fmla="val 45000"/>
            <a:gd name="adj2" fmla="val 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59255" tIns="159255" rIns="159255" bIns="1592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Final Outcomes</a:t>
          </a:r>
        </a:p>
      </dsp:txBody>
      <dsp:txXfrm>
        <a:off x="8576464" y="1014276"/>
        <a:ext cx="1855946" cy="524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list" pri="80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EE499-A620-44CE-8EFA-5CFB363168CA}" type="datetimeFigureOut">
              <a:rPr lang="de-DE" smtClean="0"/>
              <a:t>19.06.2026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B2BB0-FC7A-482F-8F8E-F6736A94A5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6664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B2BB0-FC7A-482F-8F8E-F6736A94A52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890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E5D18-B0E4-427F-C6AD-ECCAD9D33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A7EF34-1025-977D-0E1A-A712E8714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73B64D-E574-EF87-CB0C-9E0CC6ED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AAEF-57D1-46DC-B07B-BF1AD24E0BF2}" type="datetime1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285A63-5339-2D0A-6E06-D5C33F034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F769A1-861E-8D70-28A6-E8BA21ED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50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6E7E8-0A3D-4477-6552-194CE92A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0297E-937C-21DB-D190-24CAE638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840938-F1F1-5A80-DA96-3F1FF54D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BB2F5-0138-42AD-87A6-1B24C9C2BC75}" type="datetime1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A487B1-7EA7-7398-0099-5DB9C9AB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FF16B0-FEBD-C3EB-69D5-3B4E0F4A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4892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3EC231-682F-3D81-32DF-48C9D71EE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6E6728-4502-EB7A-B265-E96C072F9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5589F2-72E7-BD61-EC9F-30928FE3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325D-70FA-45C4-BB6F-70F9DE38BD65}" type="datetime1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6927D7-4C0C-48C7-469B-9B814FE1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FFCF9-C35F-3C17-60D9-163DAE86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516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ED0F6E-2428-02E8-37BA-35513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7120D1-59E3-96C8-CD49-B14A3EAA5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E80B42-40AA-DCF8-AE33-DFFEEDB31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888CE5-9510-E7AC-01FE-2B100928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9755-38AF-46EC-8B40-AD2F44370870}" type="datetime1">
              <a:rPr lang="de-DE" smtClean="0"/>
              <a:t>19.06.2026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9DE848-8E04-A715-BCE7-02081E4B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B80B06-A50F-EB97-1388-DD22686A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73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F11D4-9BBE-A4C6-684B-6631A874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F7C90-EC88-3E9C-E675-9493AE829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A364CB-07D0-FED8-5E00-9E280795F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5D8663F-B87B-4644-F3E9-01032907F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67C3A09-3D52-B6A7-85B4-145D8EC33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BC37529-1E12-6A53-3068-C42C1A571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FC409-5A19-4855-8A25-C97ED78E8CDF}" type="datetime1">
              <a:rPr lang="de-DE" smtClean="0"/>
              <a:t>19.06.2026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286F355-F5FB-D4A4-7260-45E796C7E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94B717-C7F2-E91F-5682-90B2D830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88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79858E-C645-5CE9-C42C-C13B72BD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BA36FD-0DA7-870B-C819-94F0CD53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67E9-C0A5-42A9-A1F4-E5DF71D38203}" type="datetime1">
              <a:rPr lang="de-DE" smtClean="0"/>
              <a:t>19.06.2026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0E81B6-0271-1E65-3244-AAC6DA740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C2D5FC-561B-4D1F-A56B-10687193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982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FAE13A-A5A0-A1A3-CE78-50CB527D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C46E0-6318-4BAA-BB07-43ACDB38EF3D}" type="datetime1">
              <a:rPr lang="de-DE" smtClean="0"/>
              <a:t>19.06.2026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5D4A4C-FD23-F964-242A-EC84D813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BB5FA1-42E4-75FC-870D-7A666200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57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EB4EF1-7A52-5014-3ABC-E4FB91AE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F41E2B-21A8-5306-7DE3-1BFFBC126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0241FC-ED74-C408-AF85-60C4299E6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A42B2-E1BD-D16B-06BB-9CDFC996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4C71-599F-472C-A814-5DD6BD7803AB}" type="datetime1">
              <a:rPr lang="de-DE" smtClean="0"/>
              <a:t>19.06.2026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C365A6-AFAC-08A4-C9FA-CB4105FF1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838BD6-65AC-3330-5A32-6D4CCA73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04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7FE2E0-AB8D-EBB0-334D-93D8B0B9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1E02050-FF27-0E44-0BEE-FD87F427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81EEC8-F52A-E121-5F82-918753568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40F0B9-A54D-EB5E-A6EF-8F697DB4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41FE-2776-40FB-B7A6-F4AE80578F6A}" type="datetime1">
              <a:rPr lang="de-DE" smtClean="0"/>
              <a:t>19.06.2026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268726-1644-DC4B-2878-62C9ABAB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AA183D-B7B9-4406-9A2F-F1F6C2C2D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763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954553-AC9A-C8AE-C396-4CF81912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FA6ABC-2B71-89FE-5FCD-1BDD469DB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B6ED6F-5B1E-8FCC-6155-CB5BEFC7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EAA34-20AF-4D7E-A6FC-A8A745429B5D}" type="datetime1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DCB896-937E-F35F-F1D6-4F6985E7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420962-569B-E733-931F-7759F370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50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BC0B09A-C68C-AB21-5E42-6580CEA0E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78988F-284D-0B44-0706-3F2BE228B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A83673-CA64-9C4C-B230-6F5A5749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042A8-AF10-434B-A122-2462BBDA8F8F}" type="datetime1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2BB153-46C7-4B12-FA19-772AA2C6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31974A-4C60-CF78-8F33-037450D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39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D87730-74D4-CCA1-2F23-1A1321D3F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A1FD8E-B500-E8EC-6060-7B8778F51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3EF131-4071-A06C-486B-A47F8C7C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D1A72-FE12-4FBE-98FA-20822D1921AE}" type="datetime1">
              <a:rPr lang="de-DE" smtClean="0"/>
              <a:t>19.06.2026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51BABF-8871-796F-09B7-176BF03E4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F74727-D886-9BAF-3AF6-2ADFFD3E1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6CBDE-DAAB-42B6-8A7C-B7188B09CD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95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F8E9AA3-9EAB-315F-9643-C57CE9A69516}"/>
              </a:ext>
            </a:extLst>
          </p:cNvPr>
          <p:cNvSpPr/>
          <p:nvPr/>
        </p:nvSpPr>
        <p:spPr>
          <a:xfrm>
            <a:off x="0" y="-212651"/>
            <a:ext cx="12192000" cy="7845055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                   </a:t>
            </a:r>
          </a:p>
          <a:p>
            <a:r>
              <a:rPr lang="de-DE" dirty="0">
                <a:solidFill>
                  <a:schemeClr val="bg1"/>
                </a:solidFill>
              </a:rPr>
              <a:t>                  VU 146479 – Projektstudie zur Regional- und Destinationsentwicklung            Univ.-Prof. Andreas Steinmayr</a:t>
            </a: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 </a:t>
            </a:r>
          </a:p>
          <a:p>
            <a:r>
              <a:rPr lang="de-DE" dirty="0">
                <a:solidFill>
                  <a:schemeClr val="bg1"/>
                </a:solidFill>
              </a:rPr>
              <a:t>  Nadine Stuefer, Hanna Biedermann								               23.06.2026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C28B8CD-BA3A-5BAC-D0B3-20D58E0AB7BD}"/>
              </a:ext>
            </a:extLst>
          </p:cNvPr>
          <p:cNvSpPr/>
          <p:nvPr/>
        </p:nvSpPr>
        <p:spPr>
          <a:xfrm>
            <a:off x="880730" y="1670379"/>
            <a:ext cx="10430539" cy="1922354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>
                <a:solidFill>
                  <a:sysClr val="windowText" lastClr="000000"/>
                </a:solidFill>
              </a:rPr>
              <a:t>Overtourism am </a:t>
            </a:r>
            <a:r>
              <a:rPr lang="de-DE" sz="4800" b="1" dirty="0" err="1">
                <a:solidFill>
                  <a:sysClr val="windowText" lastClr="000000"/>
                </a:solidFill>
              </a:rPr>
              <a:t>Pragser</a:t>
            </a:r>
            <a:r>
              <a:rPr lang="de-DE" sz="4800" b="1" dirty="0">
                <a:solidFill>
                  <a:sysClr val="windowText" lastClr="000000"/>
                </a:solidFill>
              </a:rPr>
              <a:t> </a:t>
            </a:r>
            <a:r>
              <a:rPr lang="de-DE" sz="4800" b="1" dirty="0" err="1">
                <a:solidFill>
                  <a:sysClr val="windowText" lastClr="000000"/>
                </a:solidFill>
              </a:rPr>
              <a:t>Wildsee</a:t>
            </a:r>
            <a:endParaRPr lang="de-DE" sz="4800" b="1" dirty="0">
              <a:solidFill>
                <a:sysClr val="windowText" lastClr="000000"/>
              </a:solidFill>
            </a:endParaRPr>
          </a:p>
          <a:p>
            <a:pPr algn="ctr"/>
            <a:r>
              <a:rPr lang="de-DE" sz="2400" dirty="0">
                <a:solidFill>
                  <a:schemeClr val="tx1"/>
                </a:solidFill>
              </a:rPr>
              <a:t>Eine Analyse der Verkehrslenkungsmaßnahme im </a:t>
            </a:r>
            <a:r>
              <a:rPr lang="de-DE" sz="2400" dirty="0" err="1">
                <a:solidFill>
                  <a:schemeClr val="tx1"/>
                </a:solidFill>
              </a:rPr>
              <a:t>Pragser</a:t>
            </a:r>
            <a:r>
              <a:rPr lang="de-DE" sz="2400" dirty="0">
                <a:solidFill>
                  <a:schemeClr val="tx1"/>
                </a:solidFill>
              </a:rPr>
              <a:t> Tal           </a:t>
            </a:r>
          </a:p>
        </p:txBody>
      </p:sp>
    </p:spTree>
    <p:extLst>
      <p:ext uri="{BB962C8B-B14F-4D97-AF65-F5344CB8AC3E}">
        <p14:creationId xmlns:p14="http://schemas.microsoft.com/office/powerpoint/2010/main" val="18393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Un passo dal cielo">
            <a:extLst>
              <a:ext uri="{FF2B5EF4-FFF2-40B4-BE49-F238E27FC236}">
                <a16:creationId xmlns:a16="http://schemas.microsoft.com/office/drawing/2014/main" id="{C72B8A72-F391-F585-9D8C-77FF147E4C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8F8BC18-6354-6D2D-B587-09745052F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81" y="622109"/>
            <a:ext cx="3999819" cy="561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25274A7-6A7D-0C31-0AB4-5F2771CB6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4257" y="622108"/>
            <a:ext cx="6096000" cy="5613781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de-DE" sz="2400" b="1" dirty="0">
                <a:solidFill>
                  <a:srgbClr val="C00000"/>
                </a:solidFill>
              </a:rPr>
              <a:t>#lagodibraies</a:t>
            </a:r>
          </a:p>
          <a:p>
            <a:pPr marL="0" indent="0" algn="r">
              <a:buNone/>
            </a:pPr>
            <a:r>
              <a:rPr lang="de-DE" sz="2400" dirty="0"/>
              <a:t>574.000 Beiträge</a:t>
            </a:r>
          </a:p>
          <a:p>
            <a:pPr marL="0" indent="0" algn="r">
              <a:buNone/>
            </a:pPr>
            <a:endParaRPr lang="de-DE" sz="2400" b="1" dirty="0">
              <a:solidFill>
                <a:srgbClr val="C00000"/>
              </a:solidFill>
            </a:endParaRPr>
          </a:p>
          <a:p>
            <a:pPr marL="0" indent="0" algn="r">
              <a:buNone/>
            </a:pPr>
            <a:r>
              <a:rPr lang="de-DE" sz="2400" b="1" dirty="0">
                <a:solidFill>
                  <a:srgbClr val="C00000"/>
                </a:solidFill>
              </a:rPr>
              <a:t>#pragserwildsee</a:t>
            </a:r>
          </a:p>
          <a:p>
            <a:pPr marL="0" indent="0" algn="r">
              <a:buNone/>
            </a:pPr>
            <a:r>
              <a:rPr lang="de-DE" sz="2400" dirty="0"/>
              <a:t>141.000 Beiträge</a:t>
            </a:r>
          </a:p>
          <a:p>
            <a:pPr marL="0" indent="0" algn="r">
              <a:buNone/>
            </a:pPr>
            <a:endParaRPr lang="de-DE" sz="2400" b="1" dirty="0">
              <a:solidFill>
                <a:srgbClr val="C00000"/>
              </a:solidFill>
            </a:endParaRPr>
          </a:p>
          <a:p>
            <a:pPr marL="0" indent="0" algn="r">
              <a:buNone/>
            </a:pPr>
            <a:r>
              <a:rPr lang="de-DE" sz="2400" b="1" dirty="0">
                <a:solidFill>
                  <a:srgbClr val="C00000"/>
                </a:solidFill>
              </a:rPr>
              <a:t>#lakebraies</a:t>
            </a:r>
          </a:p>
          <a:p>
            <a:pPr marL="0" indent="0" algn="r">
              <a:buNone/>
            </a:pPr>
            <a:r>
              <a:rPr lang="de-DE" sz="2400" dirty="0"/>
              <a:t>37.600 Beiträge</a:t>
            </a:r>
          </a:p>
          <a:p>
            <a:pPr marL="0" indent="0" algn="r">
              <a:buNone/>
            </a:pPr>
            <a:endParaRPr lang="de-DE" sz="2400" b="1" dirty="0">
              <a:solidFill>
                <a:srgbClr val="C00000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20ABEE-4E6E-1927-4D3A-8C360B76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981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A815D57B-3EEA-0DC9-1CD9-A839CF370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282" y="312351"/>
            <a:ext cx="7331308" cy="335407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193D0F-7898-35EA-25DD-C83EB066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AB6CBDE-DAAB-42B6-8A7C-B7188B09CD9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E51D12-FA11-0143-911B-909A2D12B33C}"/>
              </a:ext>
            </a:extLst>
          </p:cNvPr>
          <p:cNvSpPr/>
          <p:nvPr/>
        </p:nvSpPr>
        <p:spPr>
          <a:xfrm>
            <a:off x="576585" y="312350"/>
            <a:ext cx="4897621" cy="29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Ankünfte – </a:t>
            </a:r>
            <a:r>
              <a:rPr lang="de-DE" dirty="0" err="1">
                <a:solidFill>
                  <a:schemeClr val="tx1"/>
                </a:solidFill>
              </a:rPr>
              <a:t>Pragser</a:t>
            </a:r>
            <a:r>
              <a:rPr lang="de-DE" dirty="0">
                <a:solidFill>
                  <a:schemeClr val="tx1"/>
                </a:solidFill>
              </a:rPr>
              <a:t> Tal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94FD7FF-3CF8-F446-AE78-571996988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82" y="3847971"/>
            <a:ext cx="3937202" cy="25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0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5FF9A5-A1C4-1ED4-7FFE-5AAED2008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718"/>
            <a:ext cx="10515600" cy="55108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de-DE" sz="2400" b="1" dirty="0">
                <a:solidFill>
                  <a:srgbClr val="C00000"/>
                </a:solidFill>
              </a:rPr>
              <a:t>Overtourism</a:t>
            </a:r>
            <a:r>
              <a:rPr lang="de-DE" sz="2400" dirty="0"/>
              <a:t> </a:t>
            </a:r>
            <a:r>
              <a:rPr lang="de-DE" sz="2400" i="1" dirty="0"/>
              <a:t>bezeichnet die Auswirkungen des Tourismus auf eine Destination, die die wahrgenommene Lebensqualität der lokalen Bevölkerung und/oder die Qualität der Besuchserfahrung von Gästen übermäßig negativ beeinflussen </a:t>
            </a:r>
            <a:r>
              <a:rPr lang="en-GB" sz="2400" i="1" dirty="0"/>
              <a:t>(UNWTO, 2018)</a:t>
            </a:r>
            <a:r>
              <a:rPr lang="de-DE" sz="2400" i="1" dirty="0"/>
              <a:t>.</a:t>
            </a:r>
          </a:p>
          <a:p>
            <a:pPr marL="0" indent="0" algn="just">
              <a:buNone/>
            </a:pPr>
            <a:endParaRPr lang="de-DE" sz="2400" i="1" dirty="0"/>
          </a:p>
          <a:p>
            <a:pPr marL="0" indent="0" algn="just">
              <a:buNone/>
            </a:pPr>
            <a:r>
              <a:rPr lang="de-DE" sz="2400" b="1" dirty="0"/>
              <a:t>Tourismus schafft wirtschaftliche Chancen</a:t>
            </a:r>
            <a:r>
              <a:rPr lang="de-DE" sz="2400" dirty="0"/>
              <a:t>, etwa durch Beschäftigung, Einkommen und Infrastrukturentwicklung. </a:t>
            </a:r>
            <a:r>
              <a:rPr lang="de-DE" sz="2400" b="1" dirty="0"/>
              <a:t>Gleichzeitig entstehen Kosten</a:t>
            </a:r>
            <a:r>
              <a:rPr lang="de-DE" sz="2400" dirty="0"/>
              <a:t>, darunter Verkehrsstaus, Umweltbelastungen und Einschränkungen der Lebensqualität. In besonders beliebten Destinationen können diese negativen Auswirkungen in Form von Overtourism sichtbar werden (McCool &amp; Lime, 2001)</a:t>
            </a:r>
            <a:endParaRPr lang="de-DE" sz="2400" b="1" i="1" dirty="0"/>
          </a:p>
          <a:p>
            <a:pPr marL="0" indent="0">
              <a:buNone/>
            </a:pPr>
            <a:endParaRPr lang="de-DE" sz="2400" b="1" i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89D270-6566-16FB-876F-2138695C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07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3FEB5-CF17-F161-9E3C-2C21932C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Politikintervention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0C2855-86D3-4079-EF77-132AD6344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Errichtung Schrankensystem am Taleingang mit automatisierter Kontrolle der Zufahrten</a:t>
            </a:r>
          </a:p>
          <a:p>
            <a:r>
              <a:rPr lang="de-DE" dirty="0"/>
              <a:t>Optimierung der Linienführung des ÖPNVs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Ziel von 2022: Zufahrt zum Tal digitalisieren und automatisieren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Ursprüngliches Ziel 2019/2020: Verlagerung &amp; Beschränkung durch Kontingentierung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Das </a:t>
            </a:r>
            <a:r>
              <a:rPr lang="de-DE" b="1" dirty="0" err="1"/>
              <a:t>Pragser</a:t>
            </a:r>
            <a:r>
              <a:rPr lang="de-DE" b="1" dirty="0"/>
              <a:t> Tal ist vom 10.07. bis 10.09 von 09:30 bis 16.00 Uhr nur mit den öffentlichen Verkehrsmitteln, zu Fuß, mit dem Fahrrad oder gegen Vorweis einer Online - Reservierung bzw. einer gültigen Durchfahrtsgenehmigung erreichbar.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8B07E6-C348-1226-538B-97984FD2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260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F434E-09D6-E204-2937-D7D5E3496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EBD8F8-6841-F8A7-A5D3-2552B07C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5660" y="6441410"/>
            <a:ext cx="2743200" cy="365125"/>
          </a:xfrm>
          <a:solidFill>
            <a:schemeClr val="bg1"/>
          </a:solidFill>
        </p:spPr>
        <p:txBody>
          <a:bodyPr/>
          <a:lstStyle/>
          <a:p>
            <a:fld id="{4AB6CBDE-DAAB-42B6-8A7C-B7188B09CD98}" type="slidenum">
              <a:rPr lang="de-DE" smtClean="0">
                <a:solidFill>
                  <a:schemeClr val="tx1"/>
                </a:solidFill>
              </a:rPr>
              <a:t>6</a:t>
            </a:fld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2027C93-D486-1B42-4FCC-110C11F1EC12}"/>
              </a:ext>
            </a:extLst>
          </p:cNvPr>
          <p:cNvSpPr/>
          <p:nvPr/>
        </p:nvSpPr>
        <p:spPr>
          <a:xfrm>
            <a:off x="808072" y="467827"/>
            <a:ext cx="10481935" cy="1334389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Zu Fuß &amp; mit dem Fahrrad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accent6"/>
                </a:solidFill>
              </a:rPr>
              <a:t>Nachhaltige Anreiseformen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20AC6BE-3931-C81B-8013-EF0D171915AC}"/>
              </a:ext>
            </a:extLst>
          </p:cNvPr>
          <p:cNvSpPr/>
          <p:nvPr/>
        </p:nvSpPr>
        <p:spPr>
          <a:xfrm>
            <a:off x="808071" y="2012210"/>
            <a:ext cx="5194007" cy="3187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Mit dem Bus</a:t>
            </a: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Direkte Busverbindungen zu den Ausflugszielen im </a:t>
            </a:r>
            <a:r>
              <a:rPr lang="de-DE" dirty="0" err="1">
                <a:solidFill>
                  <a:schemeClr val="tx1"/>
                </a:solidFill>
              </a:rPr>
              <a:t>Pragser</a:t>
            </a:r>
            <a:r>
              <a:rPr lang="de-DE" dirty="0">
                <a:solidFill>
                  <a:schemeClr val="tx1"/>
                </a:solidFill>
              </a:rPr>
              <a:t> Tal von Toblach &amp; </a:t>
            </a:r>
            <a:r>
              <a:rPr lang="de-DE" dirty="0" err="1">
                <a:solidFill>
                  <a:schemeClr val="tx1"/>
                </a:solidFill>
              </a:rPr>
              <a:t>Welsberg</a:t>
            </a:r>
            <a:r>
              <a:rPr lang="de-DE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Online-Reservierung &amp; Online-Zahlung erforderlich. Kontingentierte Kapazitäten. Gästekarten sind nicht gültig – es gelten Spezialtarife für diese Linien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03C7BCC-1779-BB08-0D5D-9436A60A279D}"/>
              </a:ext>
            </a:extLst>
          </p:cNvPr>
          <p:cNvSpPr/>
          <p:nvPr/>
        </p:nvSpPr>
        <p:spPr>
          <a:xfrm>
            <a:off x="6002078" y="2012210"/>
            <a:ext cx="5287929" cy="3187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Private Anreise mit dem Auto</a:t>
            </a: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P1: Shuttle – Service zum </a:t>
            </a:r>
            <a:r>
              <a:rPr lang="de-DE" dirty="0" err="1">
                <a:solidFill>
                  <a:schemeClr val="tx1"/>
                </a:solidFill>
              </a:rPr>
              <a:t>Pragser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Wildsee</a:t>
            </a:r>
            <a:r>
              <a:rPr lang="de-DE" dirty="0">
                <a:solidFill>
                  <a:schemeClr val="tx1"/>
                </a:solidFill>
              </a:rPr>
              <a:t> &amp; </a:t>
            </a:r>
            <a:r>
              <a:rPr lang="de-DE" dirty="0" err="1">
                <a:solidFill>
                  <a:schemeClr val="tx1"/>
                </a:solidFill>
              </a:rPr>
              <a:t>Plätzwiese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P2 – P4: 200 m bis 800m vom See entfernt</a:t>
            </a: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Reservierung erforderlich – garantiert einen Parkplatz auch während der Verkehrsregelung. </a:t>
            </a:r>
          </a:p>
        </p:txBody>
      </p:sp>
      <p:pic>
        <p:nvPicPr>
          <p:cNvPr id="21" name="Grafik 20" descr="Gehen mit einfarbiger Füllung">
            <a:extLst>
              <a:ext uri="{FF2B5EF4-FFF2-40B4-BE49-F238E27FC236}">
                <a16:creationId xmlns:a16="http://schemas.microsoft.com/office/drawing/2014/main" id="{6B7E2E9B-3DBD-77E5-19B6-E813138535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7540" y="677821"/>
            <a:ext cx="914400" cy="914400"/>
          </a:xfrm>
          <a:prstGeom prst="rect">
            <a:avLst/>
          </a:prstGeom>
        </p:spPr>
      </p:pic>
      <p:pic>
        <p:nvPicPr>
          <p:cNvPr id="23" name="Grafik 22" descr="Radfahren mit einfarbiger Füllung">
            <a:extLst>
              <a:ext uri="{FF2B5EF4-FFF2-40B4-BE49-F238E27FC236}">
                <a16:creationId xmlns:a16="http://schemas.microsoft.com/office/drawing/2014/main" id="{31E90E90-FBF2-C9AB-064F-1D96FD3BF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060" y="677821"/>
            <a:ext cx="914400" cy="914400"/>
          </a:xfrm>
          <a:prstGeom prst="rect">
            <a:avLst/>
          </a:prstGeom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8DD55EF0-E230-FF5C-E6AF-E088D43A4714}"/>
              </a:ext>
            </a:extLst>
          </p:cNvPr>
          <p:cNvSpPr/>
          <p:nvPr/>
        </p:nvSpPr>
        <p:spPr>
          <a:xfrm>
            <a:off x="808071" y="5201980"/>
            <a:ext cx="10481935" cy="850605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Kombiticket (44€) bei frühzeitiger Buchung bis zu einem Tag vorher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Parkplatz + Durchfahrtsgenehmigung + Shuttle (falls notwendig) + 22€ Voucher für Restaurants/Shops</a:t>
            </a:r>
            <a:endParaRPr lang="de-DE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02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501EE-7DA8-3800-C81F-5DA7141E5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Theory </a:t>
            </a:r>
            <a:r>
              <a:rPr lang="de-DE" dirty="0" err="1"/>
              <a:t>of</a:t>
            </a:r>
            <a:r>
              <a:rPr lang="de-DE" dirty="0"/>
              <a:t> Change</a:t>
            </a: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56D1F4D1-633E-299C-E0DD-C8195E0EFD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058052"/>
              </p:ext>
            </p:extLst>
          </p:nvPr>
        </p:nvGraphicFramePr>
        <p:xfrm>
          <a:off x="838200" y="879327"/>
          <a:ext cx="10515600" cy="5043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D3FABB-6DB4-B82B-A5E5-858C9065D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17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2704-1695-607F-6F6B-8DCDD0E4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2C86CA-7160-CB2F-665E-0196E91F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Natürlicher Experimentcharakter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EAB236-57B2-D0C7-F6E0-8D14CAAD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8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3CE2183-B843-3D18-EA67-F825C8D94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è"/>
            </a:pPr>
            <a:r>
              <a:rPr lang="de-DE" dirty="0"/>
              <a:t>Bewusste exogene politische Maßnahme als Reaktion auf zunehmende Verkehrsprobleme und Overtourism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Klar definierte Intervention mit Stichtag 10. Juli 2022</a:t>
            </a:r>
          </a:p>
          <a:p>
            <a:pPr marL="0" indent="0">
              <a:buNone/>
            </a:pPr>
            <a:r>
              <a:rPr lang="de-DE" dirty="0"/>
              <a:t>= Einführung der kontrollierten Zufahrt mit Schranke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Schwäche: Keine zufällige randomisierte Zuweisung zu Treatment- oder Kontrollgruppe</a:t>
            </a:r>
          </a:p>
          <a:p>
            <a:pPr marL="0" indent="0">
              <a:buNone/>
            </a:pPr>
            <a:r>
              <a:rPr lang="de-DE" dirty="0"/>
              <a:t>-&gt; </a:t>
            </a:r>
            <a:r>
              <a:rPr lang="de-DE" dirty="0" err="1"/>
              <a:t>Selection</a:t>
            </a:r>
            <a:r>
              <a:rPr lang="de-DE" dirty="0"/>
              <a:t> Bias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5348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02666-0B54-AC48-6EAD-07DB6E50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C8D3A-DF29-7BFD-0B9D-2517DC3B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Treatment – und Kontrollgruppe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4A8CA6-E124-5CBE-6407-860F8C66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9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34F6572-D9BE-35A4-0551-8BA792057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/>
              <a:t>Treatmentgruppe</a:t>
            </a:r>
            <a:r>
              <a:rPr lang="de-DE" dirty="0"/>
              <a:t>: </a:t>
            </a:r>
            <a:r>
              <a:rPr lang="de-DE" dirty="0" err="1"/>
              <a:t>Pragsertal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 err="1"/>
              <a:t>Counterfactual</a:t>
            </a:r>
            <a:r>
              <a:rPr lang="de-DE" dirty="0"/>
              <a:t>: Wie hätte sich das Verkehrsaufkommen im </a:t>
            </a:r>
            <a:r>
              <a:rPr lang="de-DE" dirty="0" err="1"/>
              <a:t>Pragser</a:t>
            </a:r>
            <a:r>
              <a:rPr lang="de-DE" dirty="0"/>
              <a:t> Tal entwickelt, wenn die Zufahrtsbeschränkungen 2022 nicht eingeführt worden wären?</a:t>
            </a:r>
          </a:p>
          <a:p>
            <a:pPr>
              <a:buFont typeface="Aptos" panose="020B0004020202020204" pitchFamily="34" charset="0"/>
              <a:buChar char="→"/>
            </a:pPr>
            <a:r>
              <a:rPr lang="de-DE" b="1" dirty="0"/>
              <a:t> Kontrollgruppe:</a:t>
            </a:r>
            <a:r>
              <a:rPr lang="de-DE" dirty="0"/>
              <a:t> </a:t>
            </a:r>
            <a:r>
              <a:rPr lang="de-DE" dirty="0" err="1"/>
              <a:t>Sextental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9855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A6C64-6A5A-8473-75E7-1D552563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69F92-4BDA-39F0-8B74-7889CEE5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Annahmen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12D475-79E2-5F18-7EDA-7D7CB28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10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55B6E4-BB05-79DC-122C-CB438D5F4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b="1" dirty="0" err="1"/>
              <a:t>Conditional</a:t>
            </a:r>
            <a:r>
              <a:rPr lang="de-DE" b="1" dirty="0"/>
              <a:t> Independence </a:t>
            </a:r>
            <a:r>
              <a:rPr lang="de-DE" b="1" dirty="0" err="1"/>
              <a:t>Assumption</a:t>
            </a:r>
            <a:endParaRPr lang="de-DE" b="1" dirty="0"/>
          </a:p>
          <a:p>
            <a:pPr marL="0" indent="0">
              <a:buNone/>
            </a:pPr>
            <a:r>
              <a:rPr lang="de-DE" dirty="0"/>
              <a:t>Die </a:t>
            </a:r>
            <a:r>
              <a:rPr lang="de-DE" dirty="0" err="1"/>
              <a:t>Conditional</a:t>
            </a:r>
            <a:r>
              <a:rPr lang="de-DE" dirty="0"/>
              <a:t> Independence </a:t>
            </a:r>
            <a:r>
              <a:rPr lang="de-DE" dirty="0" err="1"/>
              <a:t>Assumption</a:t>
            </a:r>
            <a:r>
              <a:rPr lang="de-DE" dirty="0"/>
              <a:t> ist in unserem Untersuchungsdesign wahrscheinlich nicht vollständig erfüllt, da die Zufahrtsbeschränkungen gezielt in einem besonders stark vom Overtourism betroffenen Gebiet eingeführt wurden. Die Treatment-Zuweisung erfolgte somit nicht zufällig. 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dirty="0"/>
              <a:t>Für die </a:t>
            </a:r>
            <a:r>
              <a:rPr lang="de-DE" dirty="0" err="1"/>
              <a:t>Difference</a:t>
            </a:r>
            <a:r>
              <a:rPr lang="de-DE" dirty="0"/>
              <a:t>-in-</a:t>
            </a:r>
            <a:r>
              <a:rPr lang="de-DE" dirty="0" err="1"/>
              <a:t>Differences</a:t>
            </a:r>
            <a:r>
              <a:rPr lang="de-DE" dirty="0"/>
              <a:t>-Methode ist jedoch primär die </a:t>
            </a:r>
            <a:r>
              <a:rPr lang="de-DE" b="1" dirty="0"/>
              <a:t>Parallel-Trends-Annahme</a:t>
            </a:r>
            <a:r>
              <a:rPr lang="de-DE" dirty="0"/>
              <a:t> relevant. </a:t>
            </a:r>
            <a:endParaRPr lang="de-DE" b="1" dirty="0"/>
          </a:p>
          <a:p>
            <a:pPr marL="514350" indent="-514350"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908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4FC9-DF58-B4D1-C1F7-DEF845533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31C57-61DD-20F8-37F9-08F97F2C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637"/>
            <a:ext cx="10515600" cy="1325563"/>
          </a:xfrm>
        </p:spPr>
        <p:txBody>
          <a:bodyPr/>
          <a:lstStyle/>
          <a:p>
            <a:r>
              <a:rPr lang="de-DE" dirty="0"/>
              <a:t>Annahmen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F02235-0AA2-5E40-98C1-BB29DAB9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96862"/>
            <a:ext cx="2743200" cy="365125"/>
          </a:xfrm>
        </p:spPr>
        <p:txBody>
          <a:bodyPr/>
          <a:lstStyle/>
          <a:p>
            <a:fld id="{4AB6CBDE-DAAB-42B6-8A7C-B7188B09CD98}" type="slidenum">
              <a:rPr lang="de-DE" smtClean="0"/>
              <a:t>11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6688DE-AE16-63AA-D758-40D7F7D98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652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/>
              <a:t>2. SUTVA</a:t>
            </a:r>
          </a:p>
          <a:p>
            <a:r>
              <a:rPr lang="de-DE" sz="2000" b="1" dirty="0"/>
              <a:t>Behandlung: </a:t>
            </a:r>
            <a:r>
              <a:rPr lang="de-DE" sz="2000" dirty="0"/>
              <a:t>Einführung der Zufahrtsbeschränkungen im </a:t>
            </a:r>
            <a:r>
              <a:rPr lang="de-DE" sz="2000" dirty="0" err="1"/>
              <a:t>Pragser</a:t>
            </a:r>
            <a:r>
              <a:rPr lang="de-DE" sz="2000" dirty="0"/>
              <a:t> Tal ab 2022. </a:t>
            </a:r>
          </a:p>
          <a:p>
            <a:r>
              <a:rPr lang="de-DE" sz="2000" b="1" dirty="0"/>
              <a:t>Ergebnis: </a:t>
            </a:r>
            <a:r>
              <a:rPr lang="de-DE" sz="2000" dirty="0"/>
              <a:t>Verkehrsaufkommen an den Zählstellen. </a:t>
            </a:r>
            <a:endParaRPr lang="de-DE" sz="2000" b="1" dirty="0"/>
          </a:p>
          <a:p>
            <a:pPr marL="0" indent="0">
              <a:buNone/>
            </a:pPr>
            <a:r>
              <a:rPr lang="de-DE" sz="2000" b="1" dirty="0"/>
              <a:t>Mögliche Verletzung von SUTVA -&gt; </a:t>
            </a:r>
            <a:r>
              <a:rPr lang="de-DE" sz="2000" dirty="0"/>
              <a:t>Der kritische Punkt ist die Interferenz</a:t>
            </a:r>
          </a:p>
          <a:p>
            <a:pPr marL="0" indent="0">
              <a:buNone/>
            </a:pPr>
            <a:r>
              <a:rPr lang="de-DE" sz="2000" dirty="0"/>
              <a:t>= Wenn Besucher wegen der Schranke am </a:t>
            </a:r>
            <a:r>
              <a:rPr lang="de-DE" sz="2000" dirty="0" err="1"/>
              <a:t>Pragser</a:t>
            </a:r>
            <a:r>
              <a:rPr lang="de-DE" sz="2000" dirty="0"/>
              <a:t> </a:t>
            </a:r>
            <a:r>
              <a:rPr lang="de-DE" sz="2000" dirty="0" err="1"/>
              <a:t>Wildsee</a:t>
            </a:r>
            <a:r>
              <a:rPr lang="de-DE" sz="2000" dirty="0"/>
              <a:t> auf andere Täler ausweichen, könnte dies die Verkehrsentwicklung in der Kontrollgruppe beeinflussen.</a:t>
            </a:r>
          </a:p>
          <a:p>
            <a:pPr marL="514350" indent="-514350">
              <a:buAutoNum type="arabicPeriod"/>
            </a:pPr>
            <a:endParaRPr lang="de-DE" sz="200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44862DB-2095-45A6-EB23-3340B448FBC5}"/>
              </a:ext>
            </a:extLst>
          </p:cNvPr>
          <p:cNvSpPr/>
          <p:nvPr/>
        </p:nvSpPr>
        <p:spPr>
          <a:xfrm>
            <a:off x="925033" y="3806456"/>
            <a:ext cx="5170967" cy="18814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Die Täler liegen nicht direkt nebeneinander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Viele Besucher haben ein konkretes Ziel (</a:t>
            </a:r>
            <a:r>
              <a:rPr lang="de-DE" altLang="de-DE" dirty="0" err="1">
                <a:solidFill>
                  <a:schemeClr val="tx1"/>
                </a:solidFill>
              </a:rPr>
              <a:t>Pragser</a:t>
            </a:r>
            <a:r>
              <a:rPr lang="de-DE" altLang="de-DE" dirty="0">
                <a:solidFill>
                  <a:schemeClr val="tx1"/>
                </a:solidFill>
              </a:rPr>
              <a:t> </a:t>
            </a:r>
            <a:r>
              <a:rPr lang="de-DE" altLang="de-DE" dirty="0" err="1">
                <a:solidFill>
                  <a:schemeClr val="tx1"/>
                </a:solidFill>
              </a:rPr>
              <a:t>Wildsee</a:t>
            </a:r>
            <a:r>
              <a:rPr lang="de-DE" altLang="de-DE" dirty="0">
                <a:solidFill>
                  <a:schemeClr val="tx1"/>
                </a:solidFill>
              </a:rPr>
              <a:t>) und fahren nicht automatisch in ein anderes Tal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chemeClr val="tx1"/>
                </a:solidFill>
              </a:rPr>
              <a:t>Das Kontrollgebiet unterlag keinen vergleichbaren Restriktionen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03754E4-34D8-CCEA-ADD1-12480DA6730D}"/>
              </a:ext>
            </a:extLst>
          </p:cNvPr>
          <p:cNvSpPr/>
          <p:nvPr/>
        </p:nvSpPr>
        <p:spPr>
          <a:xfrm>
            <a:off x="6096000" y="3806456"/>
            <a:ext cx="5170967" cy="18814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Beide Regionen liegen in den Dolomiten und sprechen ähnliche Touristengruppen 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Besucher könnten auf alternative Ausflugsziele ausweichen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Die Maßnahme könnte somit indirekt Verkehr in anderen Tälern erzeugen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421ABAA-F45D-A021-00C4-ACE990C76714}"/>
              </a:ext>
            </a:extLst>
          </p:cNvPr>
          <p:cNvSpPr txBox="1"/>
          <p:nvPr/>
        </p:nvSpPr>
        <p:spPr>
          <a:xfrm>
            <a:off x="838199" y="5775182"/>
            <a:ext cx="10347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Aufgrund der räumlichen Distanz und der spezifischen Attraktivität des </a:t>
            </a:r>
            <a:r>
              <a:rPr lang="de-DE" b="1" dirty="0" err="1"/>
              <a:t>Pragser</a:t>
            </a:r>
            <a:r>
              <a:rPr lang="de-DE" b="1" dirty="0"/>
              <a:t> </a:t>
            </a:r>
            <a:r>
              <a:rPr lang="de-DE" b="1" dirty="0" err="1"/>
              <a:t>Wildsees</a:t>
            </a:r>
            <a:r>
              <a:rPr lang="de-DE" b="1" dirty="0"/>
              <a:t> gehen wir jedoch davon aus, dass solche Effekte begrenzt sind.</a:t>
            </a:r>
          </a:p>
        </p:txBody>
      </p:sp>
    </p:spTree>
    <p:extLst>
      <p:ext uri="{BB962C8B-B14F-4D97-AF65-F5344CB8AC3E}">
        <p14:creationId xmlns:p14="http://schemas.microsoft.com/office/powerpoint/2010/main" val="2524901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59B37A-F780-5E00-5784-100D93D2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Methodik: </a:t>
            </a:r>
            <a:r>
              <a:rPr lang="de-DE" dirty="0" err="1"/>
              <a:t>DiD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A24D15-E070-88FA-4356-7E2B591F1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Annahmen: Kein Erwartungseffekt &amp; Parallel Trends </a:t>
            </a:r>
            <a:r>
              <a:rPr lang="de-DE" dirty="0" err="1"/>
              <a:t>Assumption</a:t>
            </a:r>
            <a:endParaRPr lang="de-DE" dirty="0"/>
          </a:p>
          <a:p>
            <a:r>
              <a:rPr lang="de-DE" dirty="0"/>
              <a:t>Vorgehensweise Datenverarbeitung und Coding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B62CE6-582E-E8FE-BED8-BB6247DA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286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E901F-AF55-176D-D367-63908FC0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577B1B-EB87-F680-F08D-C8CF6A53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Parallel Trends zeigen</a:t>
            </a:r>
          </a:p>
          <a:p>
            <a:r>
              <a:rPr lang="de-DE" dirty="0"/>
              <a:t>Korrelationsanalyse</a:t>
            </a:r>
          </a:p>
          <a:p>
            <a:r>
              <a:rPr lang="de-DE" dirty="0"/>
              <a:t>Kausalität </a:t>
            </a:r>
            <a:r>
              <a:rPr lang="de-DE" dirty="0" err="1"/>
              <a:t>DiD</a:t>
            </a:r>
            <a:endParaRPr lang="de-DE" dirty="0"/>
          </a:p>
          <a:p>
            <a:r>
              <a:rPr lang="de-DE" dirty="0"/>
              <a:t>Vergleich mit Sexten</a:t>
            </a:r>
          </a:p>
          <a:p>
            <a:r>
              <a:rPr lang="de-DE" dirty="0"/>
              <a:t>Robustheitsanalyse mit </a:t>
            </a:r>
            <a:r>
              <a:rPr lang="de-DE" dirty="0" err="1"/>
              <a:t>Ahrntal</a:t>
            </a:r>
            <a:endParaRPr lang="de-DE" dirty="0"/>
          </a:p>
          <a:p>
            <a:r>
              <a:rPr lang="de-DE" dirty="0"/>
              <a:t>Fragen: Weniger-mehr-gleich viel Verkehr?; Stündliche Verschiebung?; Saisonale Verschiebung?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EDE30C-AC1F-A835-0A60-5944CBB9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7962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D1D0D0-F1C8-9277-41C1-87CD5850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Interpretation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5F887F-5CAA-C0BE-DBDD-3398E0AA8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F44676-AE6A-FB41-AFE5-933DBA2D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483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12758-C3E5-226F-9474-5B1E3446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Diskussion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D56744-0CB5-6A3A-6630-D8D84B595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Verkehrslenkung</a:t>
            </a:r>
          </a:p>
          <a:p>
            <a:r>
              <a:rPr lang="de-DE" dirty="0"/>
              <a:t>Wirtschaftliche Aspekte</a:t>
            </a:r>
          </a:p>
          <a:p>
            <a:r>
              <a:rPr lang="de-DE" dirty="0"/>
              <a:t>Nachhaltigkeit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B40392-2872-4C82-6F6E-18128C92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0477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E3305-3565-E07F-12BD-DD025E94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Limitationen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9B849B-922F-09BC-DB66-0052DBF92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Interne/Externe Validität</a:t>
            </a:r>
          </a:p>
          <a:p>
            <a:r>
              <a:rPr lang="de-DE" dirty="0" err="1"/>
              <a:t>Spillover</a:t>
            </a:r>
            <a:r>
              <a:rPr lang="de-DE" dirty="0"/>
              <a:t> Effekte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179570-E407-1A64-456B-C0A9A016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860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65FDE-CBB7-3B8C-7153-134D0CA0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D84FCF-27DA-5C41-B239-9B6861134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/>
              <a:t>UNWTO. (2018). </a:t>
            </a:r>
            <a:r>
              <a:rPr lang="en-US" sz="1000" i="1" dirty="0"/>
              <a:t>‘Overtourism’? – Understanding and Managing Urban Tourism Growth beyond Perceptions, Executive Summary</a:t>
            </a:r>
            <a:r>
              <a:rPr lang="en-US" sz="1000" dirty="0"/>
              <a:t>. World Tourism Organization (UNWTO). https://doi.org/10.18111/9789284420070</a:t>
            </a:r>
            <a:endParaRPr lang="de-DE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C8EFA3-C5A6-D196-B31C-684B3D02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6CBDE-DAAB-42B6-8A7C-B7188B09CD98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947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Office PowerPoint</Application>
  <PresentationFormat>Breitbild</PresentationFormat>
  <Paragraphs>159</Paragraphs>
  <Slides>17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Politikintervention</vt:lpstr>
      <vt:lpstr>PowerPoint-Präsentation</vt:lpstr>
      <vt:lpstr>Theory of Change</vt:lpstr>
      <vt:lpstr>Natürlicher Experimentcharakter</vt:lpstr>
      <vt:lpstr>Treatment – und Kontrollgruppe</vt:lpstr>
      <vt:lpstr>Annahmen</vt:lpstr>
      <vt:lpstr>Annahmen</vt:lpstr>
      <vt:lpstr>Methodik: DiD</vt:lpstr>
      <vt:lpstr>Ergebnisse</vt:lpstr>
      <vt:lpstr>Interpretation</vt:lpstr>
      <vt:lpstr>Diskussion</vt:lpstr>
      <vt:lpstr>Limitationen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Stuefer, Nadine</dc:creator>
  <cp:lastModifiedBy>Stuefer, Nadine</cp:lastModifiedBy>
  <cp:revision>1</cp:revision>
  <dcterms:created xsi:type="dcterms:W3CDTF">2026-06-19T06:46:18Z</dcterms:created>
  <dcterms:modified xsi:type="dcterms:W3CDTF">2026-06-19T08:28:13Z</dcterms:modified>
</cp:coreProperties>
</file>